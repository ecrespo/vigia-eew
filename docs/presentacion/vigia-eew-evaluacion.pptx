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charts/chart1.xml" ContentType="application/vnd.openxmlformats-officedocument.drawingml.chart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</p:sldIdLst>
  <p:notesMasterIdLst>
    <p:notesMasterId r:id="rId19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notesMaster" Target="notesMasters/notesMaster1.xml"/><Relationship Id="rId20" Type="http://schemas.openxmlformats.org/officeDocument/2006/relationships/presProps" Target="presProps.xml"/><Relationship Id="rId21" Type="http://schemas.openxmlformats.org/officeDocument/2006/relationships/viewProps" Target="viewProps.xml"/><Relationship Id="rId22" Type="http://schemas.openxmlformats.org/officeDocument/2006/relationships/theme" Target="theme/theme1.xml"/><Relationship Id="rId23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Avisos en el feed de PyPI</c:v>
                </c:pt>
              </c:strCache>
            </c:strRef>
          </c:tx>
          <c:spPr>
            <a:solidFill>
              <a:srgbClr val="C0392B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100" u="none">
                    <a:solidFill>
                      <a:srgbClr val="1B2028"/>
                    </a:solidFill>
                    <a:latin typeface="Calibri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Sheet1!$A$2:$A$8</c:f>
              <c:multiLvlStrCache>
                <c:ptCount val="7"/>
                <c:lvl>
                  <c:pt idx="0">
                    <c:v>10.0.0</c:v>
                  </c:pt>
                  <c:pt idx="1">
                    <c:v>11.0.0</c:v>
                  </c:pt>
                  <c:pt idx="2">
                    <c:v>11.2.1</c:v>
                  </c:pt>
                  <c:pt idx="3">
                    <c:v>12.0.0</c:v>
                  </c:pt>
                  <c:pt idx="4">
                    <c:v>12.1.0</c:v>
                  </c:pt>
                  <c:pt idx="5">
                    <c:v>12.2.0</c:v>
                  </c:pt>
                  <c:pt idx="6">
                    <c:v>12.3.0</c:v>
                  </c:pt>
                </c:lvl>
              </c:multiLvlStrCache>
            </c:multiLvlStrRef>
          </c:cat>
          <c:val>
            <c:numRef>
              <c:f>Sheet1!$B$2:$B$8</c:f>
              <c:numCache>
                <c:formatCode>General</c:formatCode>
                <c:ptCount val="7"/>
                <c:pt idx="0">
                  <c:v>34</c:v>
                </c:pt>
                <c:pt idx="1">
                  <c:v>33</c:v>
                </c:pt>
                <c:pt idx="2">
                  <c:v>37</c:v>
                </c:pt>
                <c:pt idx="3">
                  <c:v>37</c:v>
                </c:pt>
                <c:pt idx="4">
                  <c:v>37</c:v>
                </c:pt>
                <c:pt idx="5">
                  <c:v>25</c:v>
                </c:pt>
                <c:pt idx="6">
                  <c:v>0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100" u="none">
                  <a:solidFill>
                    <a:srgbClr val="1B2028"/>
                  </a:solidFill>
                  <a:latin typeface="Calibri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45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5A6473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40"/>
          <c:min val="0"/>
        </c:scaling>
        <c:delete val="0"/>
        <c:axPos val="l"/>
        <c:majorGridlines>
          <c:spPr>
            <a:ln w="12700" cap="flat">
              <a:solidFill>
                <a:srgbClr val="D8DEE6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5A6473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Un solo repositorio conectado: no hay deck de síntesis porque no hay varios repos que sintetizar.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Regla del sistema visual: rojo/ámbar/verde SOLO para severidad. El turquesa es navegación.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94 archivos verificados contra el sistema de archivos, no contra lo reportado.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Nivel 1 de C4 resumido. El detalle está en docs/ARQUITECTURA-C4.md.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Ninguna dimensión sin herramienta ejecutada recibe color: se marca 'no evaluado'.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Gitleaks no pudo ejecutarse (GitHub bloqueado); se sustituyó por detect-secrets sobre árbol e historia. Gap documentado.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El informe SCA no estaba equivocado: su alcance era 'lo instalado'. El hallazgo nuevo vive en 'lo declarado'.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Pillow entra al árbol por pystray, que lleva 1.085 días sin publicar.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Fuente: guía oficial del desarrollador de Python, actualizada 2026-05-27.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Riesgo de disponibilidad no reportado en etapas anteriores; aparece al cruzar empaquetado con CI.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El caso histórico que los justifica: prune() vivió 14 fases con test verde y cero llamadas.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0 ciclos de dependencia a nivel de archivo entre 40 módulos y 97 aristas.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Un hallazgo sin verificar es ruido. Verificarlos y descartarlos es parte del trabajo.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Regla de oro de la metodología: sustituir y documentar el gap, nunca fabricar un resultado.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Este plan no toca lo que ya tiene dueño en code-audit, arch-eval o el kit SDD.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Las tres estaban señaladas desde ángulos distintos en las cinco etapas anteriores.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Detalle completo en docs/: 94 artefactos, 0 enlaces rotos, 16 diagramas validados.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B20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954512" y="5623560"/>
            <a:ext cx="2468880" cy="2468880"/>
          </a:xfrm>
          <a:prstGeom prst="ellipse">
            <a:avLst/>
          </a:prstGeom>
          <a:solidFill>
            <a:srgbClr val="00B4A6">
              <a:alpha val="22000"/>
            </a:srgbClr>
          </a:solidFill>
          <a:ln w="12700">
            <a:solidFill>
              <a:srgbClr val="00B4A6">
                <a:alpha val="52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0360152" y="5029200"/>
            <a:ext cx="3657600" cy="3657600"/>
          </a:xfrm>
          <a:prstGeom prst="ellipse">
            <a:avLst/>
          </a:prstGeom>
          <a:solidFill>
            <a:srgbClr val="00B4A6">
              <a:alpha val="14000"/>
            </a:srgbClr>
          </a:solidFill>
          <a:ln w="12700">
            <a:solidFill>
              <a:srgbClr val="00B4A6">
                <a:alpha val="44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9720072" y="4389120"/>
            <a:ext cx="4937760" cy="4937760"/>
          </a:xfrm>
          <a:prstGeom prst="ellipse">
            <a:avLst/>
          </a:prstGeom>
          <a:solidFill>
            <a:srgbClr val="00B4A6">
              <a:alpha val="8000"/>
            </a:srgbClr>
          </a:solidFill>
          <a:ln w="12700">
            <a:solidFill>
              <a:srgbClr val="00B4A6">
                <a:alpha val="38000"/>
              </a:srgbClr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40080" y="1965960"/>
            <a:ext cx="87782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F2F5F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Vigía-eew</a:t>
            </a:r>
            <a:endParaRPr lang="en-US" sz="4400" dirty="0"/>
          </a:p>
        </p:txBody>
      </p:sp>
      <p:sp>
        <p:nvSpPr>
          <p:cNvPr id="6" name="Text 4"/>
          <p:cNvSpPr txBox="1"/>
          <p:nvPr/>
        </p:nvSpPr>
        <p:spPr>
          <a:xfrm>
            <a:off x="640080" y="3429000"/>
            <a:ext cx="87782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9AA6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Evaluación de código, seguridad y contenedores · 2026-09-06</a:t>
            </a:r>
            <a:endParaRPr lang="en-US" sz="1600" dirty="0"/>
          </a:p>
        </p:txBody>
      </p:sp>
      <p:sp>
        <p:nvSpPr>
          <p:cNvPr id="7" name="Text 5"/>
          <p:cNvSpPr txBox="1"/>
          <p:nvPr/>
        </p:nvSpPr>
        <p:spPr>
          <a:xfrm>
            <a:off x="640080" y="4343400"/>
            <a:ext cx="8778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9AA6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Agente de alerta sísmica de escritorio · commit c3a2c29 (v0.6.0)</a:t>
            </a:r>
            <a:endParaRPr lang="en-US" sz="1300" dirty="0"/>
          </a:p>
        </p:txBody>
      </p:sp>
      <p:sp>
        <p:nvSpPr>
          <p:cNvPr id="8" name="Text 6"/>
          <p:cNvSpPr txBox="1"/>
          <p:nvPr/>
        </p:nvSpPr>
        <p:spPr>
          <a:xfrm>
            <a:off x="640080" y="4754880"/>
            <a:ext cx="8778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00B4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94 artefactos de análisis · 5 etapas · un repositorio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EEF1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954512" y="5623560"/>
            <a:ext cx="2468880" cy="2468880"/>
          </a:xfrm>
          <a:prstGeom prst="ellipse">
            <a:avLst/>
          </a:prstGeom>
          <a:solidFill>
            <a:srgbClr val="00B4A6">
              <a:alpha val="22000"/>
            </a:srgbClr>
          </a:solidFill>
          <a:ln w="12700">
            <a:solidFill>
              <a:srgbClr val="00B4A6">
                <a:alpha val="52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0360152" y="5029200"/>
            <a:ext cx="3657600" cy="3657600"/>
          </a:xfrm>
          <a:prstGeom prst="ellipse">
            <a:avLst/>
          </a:prstGeom>
          <a:solidFill>
            <a:srgbClr val="00B4A6">
              <a:alpha val="14000"/>
            </a:srgbClr>
          </a:solidFill>
          <a:ln w="12700">
            <a:solidFill>
              <a:srgbClr val="00B4A6">
                <a:alpha val="44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9720072" y="4389120"/>
            <a:ext cx="4937760" cy="4937760"/>
          </a:xfrm>
          <a:prstGeom prst="ellipse">
            <a:avLst/>
          </a:prstGeom>
          <a:solidFill>
            <a:srgbClr val="00B4A6">
              <a:alpha val="8000"/>
            </a:srgbClr>
          </a:solidFill>
          <a:ln w="12700">
            <a:solidFill>
              <a:srgbClr val="00B4A6">
                <a:alpha val="38000"/>
              </a:srgbClr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40080" y="384048"/>
            <a:ext cx="10881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00B4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CÓMO LEER ESTE DECK</a:t>
            </a:r>
            <a:endParaRPr lang="en-US" sz="1100" dirty="0"/>
          </a:p>
        </p:txBody>
      </p:sp>
      <p:sp>
        <p:nvSpPr>
          <p:cNvPr id="6" name="Text 4"/>
          <p:cNvSpPr txBox="1"/>
          <p:nvPr/>
        </p:nvSpPr>
        <p:spPr>
          <a:xfrm>
            <a:off x="640080" y="685800"/>
            <a:ext cx="108813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B202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Los colores significan una sola cosa</a:t>
            </a:r>
            <a:endParaRPr lang="en-US" sz="3200" dirty="0"/>
          </a:p>
        </p:txBody>
      </p:sp>
      <p:sp>
        <p:nvSpPr>
          <p:cNvPr id="7" name="Shape 5"/>
          <p:cNvSpPr/>
          <p:nvPr/>
        </p:nvSpPr>
        <p:spPr>
          <a:xfrm>
            <a:off x="640080" y="1691640"/>
            <a:ext cx="6766560" cy="676656"/>
          </a:xfrm>
          <a:prstGeom prst="roundRect">
            <a:avLst>
              <a:gd name="adj" fmla="val 10811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76200" dist="12700" dir="5400000">
              <a:srgbClr val="9AA6B5">
                <a:alpha val="22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868680" y="1847088"/>
            <a:ext cx="365760" cy="365760"/>
          </a:xfrm>
          <a:prstGeom prst="ellipse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1371600" y="178308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P1</a:t>
            </a:r>
            <a:endParaRPr lang="en-US" sz="1500" dirty="0"/>
          </a:p>
        </p:txBody>
      </p:sp>
      <p:sp>
        <p:nvSpPr>
          <p:cNvPr id="10" name="Text 8"/>
          <p:cNvSpPr txBox="1"/>
          <p:nvPr/>
        </p:nvSpPr>
        <p:spPr>
          <a:xfrm>
            <a:off x="1371600" y="2039112"/>
            <a:ext cx="5760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5A64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Crítico · explotable o pérdida de datos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640080" y="2532888"/>
            <a:ext cx="6766560" cy="676656"/>
          </a:xfrm>
          <a:prstGeom prst="roundRect">
            <a:avLst>
              <a:gd name="adj" fmla="val 10811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76200" dist="12700" dir="5400000">
              <a:srgbClr val="9AA6B5">
                <a:alpha val="22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868680" y="2688336"/>
            <a:ext cx="365760" cy="365760"/>
          </a:xfrm>
          <a:prstGeom prst="ellipse">
            <a:avLst/>
          </a:prstGeom>
          <a:solidFill>
            <a:srgbClr val="E8A33D"/>
          </a:solidFill>
          <a:ln w="12700">
            <a:solidFill>
              <a:srgbClr val="E8A33D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1371600" y="2624328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P2</a:t>
            </a:r>
            <a:endParaRPr lang="en-US" sz="1500" dirty="0"/>
          </a:p>
        </p:txBody>
      </p:sp>
      <p:sp>
        <p:nvSpPr>
          <p:cNvPr id="14" name="Text 12"/>
          <p:cNvSpPr txBox="1"/>
          <p:nvPr/>
        </p:nvSpPr>
        <p:spPr>
          <a:xfrm>
            <a:off x="1371600" y="2880360"/>
            <a:ext cx="5760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5A64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Debilita defensas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640080" y="3374136"/>
            <a:ext cx="6766560" cy="676656"/>
          </a:xfrm>
          <a:prstGeom prst="roundRect">
            <a:avLst>
              <a:gd name="adj" fmla="val 10811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76200" dist="12700" dir="5400000">
              <a:srgbClr val="9AA6B5">
                <a:alpha val="22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868680" y="3529584"/>
            <a:ext cx="365760" cy="365760"/>
          </a:xfrm>
          <a:prstGeom prst="ellipse">
            <a:avLst/>
          </a:prstGeom>
          <a:solidFill>
            <a:srgbClr val="27AE60"/>
          </a:solidFill>
          <a:ln w="12700">
            <a:solidFill>
              <a:srgbClr val="27AE60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1371600" y="3465576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27AE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OK / P3</a:t>
            </a:r>
            <a:endParaRPr lang="en-US" sz="1500" dirty="0"/>
          </a:p>
        </p:txBody>
      </p:sp>
      <p:sp>
        <p:nvSpPr>
          <p:cNvPr id="18" name="Text 16"/>
          <p:cNvSpPr txBox="1"/>
          <p:nvPr/>
        </p:nvSpPr>
        <p:spPr>
          <a:xfrm>
            <a:off x="1371600" y="3721608"/>
            <a:ext cx="5760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5A64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Sano, o calidad sin riesgo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640080" y="4215384"/>
            <a:ext cx="6766560" cy="676656"/>
          </a:xfrm>
          <a:prstGeom prst="roundRect">
            <a:avLst>
              <a:gd name="adj" fmla="val 10811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76200" dist="12700" dir="5400000">
              <a:srgbClr val="9AA6B5">
                <a:alpha val="22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868680" y="4370832"/>
            <a:ext cx="365760" cy="365760"/>
          </a:xfrm>
          <a:prstGeom prst="ellipse">
            <a:avLst/>
          </a:prstGeom>
          <a:solidFill>
            <a:srgbClr val="8892A6"/>
          </a:solidFill>
          <a:ln w="12700">
            <a:solidFill>
              <a:srgbClr val="8892A6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1371600" y="4306824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8892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</a:t>
            </a:r>
            <a:endParaRPr lang="en-US" sz="1500" dirty="0"/>
          </a:p>
        </p:txBody>
      </p:sp>
      <p:sp>
        <p:nvSpPr>
          <p:cNvPr id="22" name="Text 20"/>
          <p:cNvSpPr txBox="1"/>
          <p:nvPr/>
        </p:nvSpPr>
        <p:spPr>
          <a:xfrm>
            <a:off x="1371600" y="4562856"/>
            <a:ext cx="5760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5A64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evaluado: falta herramienta, no falta hallazgo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7772400" y="1691640"/>
            <a:ext cx="3749040" cy="3346704"/>
          </a:xfrm>
          <a:prstGeom prst="roundRect">
            <a:avLst>
              <a:gd name="adj" fmla="val 2186"/>
            </a:avLst>
          </a:prstGeom>
          <a:solidFill>
            <a:srgbClr val="2E3744"/>
          </a:solidFill>
          <a:ln w="12700">
            <a:solidFill>
              <a:srgbClr val="2E3744"/>
            </a:solidFill>
            <a:prstDash val="solid"/>
          </a:ln>
          <a:effectLst>
            <a:outerShdw sx="100000" sy="100000" kx="0" ky="0" algn="bl" rotWithShape="0" blurRad="76200" dist="12700" dir="5400000">
              <a:srgbClr val="9AA6B5">
                <a:alpha val="22000"/>
              </a:srgbClr>
            </a:outerShdw>
          </a:effectLst>
        </p:spPr>
      </p:sp>
      <p:sp>
        <p:nvSpPr>
          <p:cNvPr id="24" name="Text 22"/>
          <p:cNvSpPr txBox="1"/>
          <p:nvPr/>
        </p:nvSpPr>
        <p:spPr>
          <a:xfrm>
            <a:off x="8092440" y="1938528"/>
            <a:ext cx="3200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00B4A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El acento turquesa</a:t>
            </a:r>
            <a:endParaRPr lang="en-US" sz="1500" dirty="0"/>
          </a:p>
        </p:txBody>
      </p:sp>
      <p:sp>
        <p:nvSpPr>
          <p:cNvPr id="25" name="Text 23"/>
          <p:cNvSpPr txBox="1"/>
          <p:nvPr/>
        </p:nvSpPr>
        <p:spPr>
          <a:xfrm>
            <a:off x="8092440" y="2331720"/>
            <a:ext cx="3154680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800"/>
              </a:lnSpc>
              <a:buNone/>
            </a:pPr>
            <a:r>
              <a:rPr lang="en-US" sz="1250" dirty="0">
                <a:solidFill>
                  <a:srgbClr val="9AA6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indica severidad en ningún caso: marca navegación y énfasis.</a:t>
            </a:r>
            <a:endParaRPr lang="en-US" sz="1250" dirty="0"/>
          </a:p>
          <a:p>
            <a:pPr indent="0" marL="0">
              <a:lnSpc>
                <a:spcPts val="1800"/>
              </a:lnSpc>
              <a:buNone/>
            </a:pPr>
            <a:endParaRPr lang="en-US" sz="1250" dirty="0"/>
          </a:p>
          <a:p>
            <a:pPr indent="0" marL="0">
              <a:lnSpc>
                <a:spcPts val="1800"/>
              </a:lnSpc>
              <a:buNone/>
            </a:pPr>
            <a:r>
              <a:rPr lang="en-US" sz="1250" dirty="0">
                <a:solidFill>
                  <a:srgbClr val="9AA6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motivo de anillos concéntricos que se repite en cada slide es el propio ícono de bandeja del producto: un círculo con ondas.</a:t>
            </a:r>
            <a:endParaRPr lang="en-US" sz="12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EEF1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954512" y="5623560"/>
            <a:ext cx="2468880" cy="2468880"/>
          </a:xfrm>
          <a:prstGeom prst="ellipse">
            <a:avLst/>
          </a:prstGeom>
          <a:solidFill>
            <a:srgbClr val="00B4A6">
              <a:alpha val="22000"/>
            </a:srgbClr>
          </a:solidFill>
          <a:ln w="12700">
            <a:solidFill>
              <a:srgbClr val="00B4A6">
                <a:alpha val="52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0360152" y="5029200"/>
            <a:ext cx="3657600" cy="3657600"/>
          </a:xfrm>
          <a:prstGeom prst="ellipse">
            <a:avLst/>
          </a:prstGeom>
          <a:solidFill>
            <a:srgbClr val="00B4A6">
              <a:alpha val="14000"/>
            </a:srgbClr>
          </a:solidFill>
          <a:ln w="12700">
            <a:solidFill>
              <a:srgbClr val="00B4A6">
                <a:alpha val="44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9720072" y="4389120"/>
            <a:ext cx="4937760" cy="4937760"/>
          </a:xfrm>
          <a:prstGeom prst="ellipse">
            <a:avLst/>
          </a:prstGeom>
          <a:solidFill>
            <a:srgbClr val="00B4A6">
              <a:alpha val="8000"/>
            </a:srgbClr>
          </a:solidFill>
          <a:ln w="12700">
            <a:solidFill>
              <a:srgbClr val="00B4A6">
                <a:alpha val="38000"/>
              </a:srgbClr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40080" y="384048"/>
            <a:ext cx="10881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00B4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ALCANCE</a:t>
            </a:r>
            <a:endParaRPr lang="en-US" sz="1100" dirty="0"/>
          </a:p>
        </p:txBody>
      </p:sp>
      <p:sp>
        <p:nvSpPr>
          <p:cNvPr id="6" name="Text 4"/>
          <p:cNvSpPr txBox="1"/>
          <p:nvPr/>
        </p:nvSpPr>
        <p:spPr>
          <a:xfrm>
            <a:off x="640080" y="685800"/>
            <a:ext cx="108813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B202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Cinco etapas, 94 artefactos, un repositorio</a:t>
            </a:r>
            <a:endParaRPr lang="en-US" sz="3200" dirty="0"/>
          </a:p>
        </p:txBody>
      </p:sp>
      <p:sp>
        <p:nvSpPr>
          <p:cNvPr id="7" name="Shape 5"/>
          <p:cNvSpPr/>
          <p:nvPr/>
        </p:nvSpPr>
        <p:spPr>
          <a:xfrm>
            <a:off x="640080" y="1828800"/>
            <a:ext cx="2066544" cy="2651760"/>
          </a:xfrm>
          <a:prstGeom prst="roundRect">
            <a:avLst>
              <a:gd name="adj" fmla="val 3540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76200" dist="12700" dir="5400000">
              <a:srgbClr val="9AA6B5">
                <a:alpha val="22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1417320" y="2057400"/>
            <a:ext cx="512064" cy="512064"/>
          </a:xfrm>
          <a:prstGeom prst="ellipse">
            <a:avLst/>
          </a:prstGeom>
          <a:solidFill>
            <a:srgbClr val="00B4A6"/>
          </a:solidFill>
          <a:ln w="12700">
            <a:solidFill>
              <a:srgbClr val="00B4A6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1417320" y="2157984"/>
            <a:ext cx="51206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700" dirty="0"/>
          </a:p>
        </p:txBody>
      </p:sp>
      <p:sp>
        <p:nvSpPr>
          <p:cNvPr id="10" name="Text 8"/>
          <p:cNvSpPr txBox="1"/>
          <p:nvPr/>
        </p:nvSpPr>
        <p:spPr>
          <a:xfrm>
            <a:off x="804672" y="2761488"/>
            <a:ext cx="1737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1B202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Capas de contexto</a:t>
            </a:r>
            <a:endParaRPr lang="en-US" sz="1350" dirty="0"/>
          </a:p>
        </p:txBody>
      </p:sp>
      <p:sp>
        <p:nvSpPr>
          <p:cNvPr id="11" name="Text 9"/>
          <p:cNvSpPr txBox="1"/>
          <p:nvPr/>
        </p:nvSpPr>
        <p:spPr>
          <a:xfrm>
            <a:off x="804672" y="3346704"/>
            <a:ext cx="17373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300"/>
              </a:lnSpc>
              <a:buNone/>
            </a:pPr>
            <a:r>
              <a:rPr lang="en-US" sz="1050" dirty="0">
                <a:solidFill>
                  <a:srgbClr val="5A64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CodeGraph · Graphify · lat.md</a:t>
            </a:r>
            <a:endParaRPr lang="en-US" sz="1050" dirty="0"/>
          </a:p>
        </p:txBody>
      </p:sp>
      <p:sp>
        <p:nvSpPr>
          <p:cNvPr id="12" name="Text 10"/>
          <p:cNvSpPr txBox="1"/>
          <p:nvPr/>
        </p:nvSpPr>
        <p:spPr>
          <a:xfrm>
            <a:off x="804672" y="4114800"/>
            <a:ext cx="1737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F6F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 docs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2889504" y="1828800"/>
            <a:ext cx="2066544" cy="2651760"/>
          </a:xfrm>
          <a:prstGeom prst="roundRect">
            <a:avLst>
              <a:gd name="adj" fmla="val 3540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76200" dist="12700" dir="5400000">
              <a:srgbClr val="9AA6B5">
                <a:alpha val="22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3666744" y="2057400"/>
            <a:ext cx="512064" cy="512064"/>
          </a:xfrm>
          <a:prstGeom prst="ellipse">
            <a:avLst/>
          </a:prstGeom>
          <a:solidFill>
            <a:srgbClr val="00B4A6"/>
          </a:solidFill>
          <a:ln w="12700">
            <a:solidFill>
              <a:srgbClr val="00B4A6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3666744" y="2157984"/>
            <a:ext cx="51206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700" dirty="0"/>
          </a:p>
        </p:txBody>
      </p:sp>
      <p:sp>
        <p:nvSpPr>
          <p:cNvPr id="16" name="Text 14"/>
          <p:cNvSpPr txBox="1"/>
          <p:nvPr/>
        </p:nvSpPr>
        <p:spPr>
          <a:xfrm>
            <a:off x="3054096" y="2761488"/>
            <a:ext cx="1737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1B202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Ingeniería inversa</a:t>
            </a:r>
            <a:endParaRPr lang="en-US" sz="1350" dirty="0"/>
          </a:p>
        </p:txBody>
      </p:sp>
      <p:sp>
        <p:nvSpPr>
          <p:cNvPr id="17" name="Text 15"/>
          <p:cNvSpPr txBox="1"/>
          <p:nvPr/>
        </p:nvSpPr>
        <p:spPr>
          <a:xfrm>
            <a:off x="3054096" y="3346704"/>
            <a:ext cx="17373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300"/>
              </a:lnSpc>
              <a:buNone/>
            </a:pPr>
            <a:r>
              <a:rPr lang="en-US" sz="1050" dirty="0">
                <a:solidFill>
                  <a:srgbClr val="5A64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 HU · 95 criterios · 157 casos</a:t>
            </a:r>
            <a:endParaRPr lang="en-US" sz="1050" dirty="0"/>
          </a:p>
        </p:txBody>
      </p:sp>
      <p:sp>
        <p:nvSpPr>
          <p:cNvPr id="18" name="Text 16"/>
          <p:cNvSpPr txBox="1"/>
          <p:nvPr/>
        </p:nvSpPr>
        <p:spPr>
          <a:xfrm>
            <a:off x="3054096" y="4114800"/>
            <a:ext cx="1737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F6F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29 docs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5138928" y="1828800"/>
            <a:ext cx="2066544" cy="2651760"/>
          </a:xfrm>
          <a:prstGeom prst="roundRect">
            <a:avLst>
              <a:gd name="adj" fmla="val 3540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76200" dist="12700" dir="5400000">
              <a:srgbClr val="9AA6B5">
                <a:alpha val="22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5916168" y="2057400"/>
            <a:ext cx="512064" cy="512064"/>
          </a:xfrm>
          <a:prstGeom prst="ellipse">
            <a:avLst/>
          </a:prstGeom>
          <a:solidFill>
            <a:srgbClr val="00B4A6"/>
          </a:solidFill>
          <a:ln w="12700">
            <a:solidFill>
              <a:srgbClr val="00B4A6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5916168" y="2157984"/>
            <a:ext cx="51206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700" dirty="0"/>
          </a:p>
        </p:txBody>
      </p:sp>
      <p:sp>
        <p:nvSpPr>
          <p:cNvPr id="22" name="Text 20"/>
          <p:cNvSpPr txBox="1"/>
          <p:nvPr/>
        </p:nvSpPr>
        <p:spPr>
          <a:xfrm>
            <a:off x="5303520" y="2761488"/>
            <a:ext cx="1737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1B202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Auditoría de código</a:t>
            </a:r>
            <a:endParaRPr lang="en-US" sz="1350" dirty="0"/>
          </a:p>
        </p:txBody>
      </p:sp>
      <p:sp>
        <p:nvSpPr>
          <p:cNvPr id="23" name="Text 21"/>
          <p:cNvSpPr txBox="1"/>
          <p:nvPr/>
        </p:nvSpPr>
        <p:spPr>
          <a:xfrm>
            <a:off x="5303520" y="3346704"/>
            <a:ext cx="17373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300"/>
              </a:lnSpc>
              <a:buNone/>
            </a:pPr>
            <a:r>
              <a:rPr lang="en-US" sz="1050" dirty="0">
                <a:solidFill>
                  <a:srgbClr val="5A64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dimensiones con evidencia</a:t>
            </a:r>
            <a:endParaRPr lang="en-US" sz="1050" dirty="0"/>
          </a:p>
        </p:txBody>
      </p:sp>
      <p:sp>
        <p:nvSpPr>
          <p:cNvPr id="24" name="Text 22"/>
          <p:cNvSpPr txBox="1"/>
          <p:nvPr/>
        </p:nvSpPr>
        <p:spPr>
          <a:xfrm>
            <a:off x="5303520" y="4114800"/>
            <a:ext cx="1737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F6F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22 docs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7388352" y="1828800"/>
            <a:ext cx="2066544" cy="2651760"/>
          </a:xfrm>
          <a:prstGeom prst="roundRect">
            <a:avLst>
              <a:gd name="adj" fmla="val 3540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76200" dist="12700" dir="5400000">
              <a:srgbClr val="9AA6B5">
                <a:alpha val="22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8165592" y="2057400"/>
            <a:ext cx="512064" cy="512064"/>
          </a:xfrm>
          <a:prstGeom prst="ellipse">
            <a:avLst/>
          </a:prstGeom>
          <a:solidFill>
            <a:srgbClr val="00B4A6"/>
          </a:solidFill>
          <a:ln w="12700">
            <a:solidFill>
              <a:srgbClr val="00B4A6"/>
            </a:solidFill>
            <a:prstDash val="solid"/>
          </a:ln>
        </p:spPr>
      </p:sp>
      <p:sp>
        <p:nvSpPr>
          <p:cNvPr id="27" name="Text 25"/>
          <p:cNvSpPr txBox="1"/>
          <p:nvPr/>
        </p:nvSpPr>
        <p:spPr>
          <a:xfrm>
            <a:off x="8165592" y="2157984"/>
            <a:ext cx="51206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700" dirty="0"/>
          </a:p>
        </p:txBody>
      </p:sp>
      <p:sp>
        <p:nvSpPr>
          <p:cNvPr id="28" name="Text 26"/>
          <p:cNvSpPr txBox="1"/>
          <p:nvPr/>
        </p:nvSpPr>
        <p:spPr>
          <a:xfrm>
            <a:off x="7552944" y="2761488"/>
            <a:ext cx="1737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1B202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Arquitectura</a:t>
            </a:r>
            <a:endParaRPr lang="en-US" sz="1350" dirty="0"/>
          </a:p>
        </p:txBody>
      </p:sp>
      <p:sp>
        <p:nvSpPr>
          <p:cNvPr id="29" name="Text 27"/>
          <p:cNvSpPr txBox="1"/>
          <p:nvPr/>
        </p:nvSpPr>
        <p:spPr>
          <a:xfrm>
            <a:off x="7552944" y="3346704"/>
            <a:ext cx="17373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300"/>
              </a:lnSpc>
              <a:buNone/>
            </a:pPr>
            <a:r>
              <a:rPr lang="en-US" sz="1050" dirty="0">
                <a:solidFill>
                  <a:srgbClr val="5A64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Grafo · git · 8 atributos · 3 ADR</a:t>
            </a:r>
            <a:endParaRPr lang="en-US" sz="1050" dirty="0"/>
          </a:p>
        </p:txBody>
      </p:sp>
      <p:sp>
        <p:nvSpPr>
          <p:cNvPr id="30" name="Text 28"/>
          <p:cNvSpPr txBox="1"/>
          <p:nvPr/>
        </p:nvSpPr>
        <p:spPr>
          <a:xfrm>
            <a:off x="7552944" y="4114800"/>
            <a:ext cx="1737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F6F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 docs</a:t>
            </a:r>
            <a:endParaRPr lang="en-US" sz="1000" dirty="0"/>
          </a:p>
        </p:txBody>
      </p:sp>
      <p:sp>
        <p:nvSpPr>
          <p:cNvPr id="31" name="Shape 29"/>
          <p:cNvSpPr/>
          <p:nvPr/>
        </p:nvSpPr>
        <p:spPr>
          <a:xfrm>
            <a:off x="9637776" y="1828800"/>
            <a:ext cx="2066544" cy="2651760"/>
          </a:xfrm>
          <a:prstGeom prst="roundRect">
            <a:avLst>
              <a:gd name="adj" fmla="val 3540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76200" dist="12700" dir="5400000">
              <a:srgbClr val="9AA6B5">
                <a:alpha val="22000"/>
              </a:srgbClr>
            </a:outerShdw>
          </a:effectLst>
        </p:spPr>
      </p:sp>
      <p:sp>
        <p:nvSpPr>
          <p:cNvPr id="32" name="Shape 30"/>
          <p:cNvSpPr/>
          <p:nvPr/>
        </p:nvSpPr>
        <p:spPr>
          <a:xfrm>
            <a:off x="10415016" y="2057400"/>
            <a:ext cx="512064" cy="512064"/>
          </a:xfrm>
          <a:prstGeom prst="ellipse">
            <a:avLst/>
          </a:prstGeom>
          <a:solidFill>
            <a:srgbClr val="00B4A6"/>
          </a:solidFill>
          <a:ln w="12700">
            <a:solidFill>
              <a:srgbClr val="00B4A6"/>
            </a:solidFill>
            <a:prstDash val="solid"/>
          </a:ln>
        </p:spPr>
      </p:sp>
      <p:sp>
        <p:nvSpPr>
          <p:cNvPr id="33" name="Text 31"/>
          <p:cNvSpPr txBox="1"/>
          <p:nvPr/>
        </p:nvSpPr>
        <p:spPr>
          <a:xfrm>
            <a:off x="10415016" y="2157984"/>
            <a:ext cx="51206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700" dirty="0"/>
          </a:p>
        </p:txBody>
      </p:sp>
      <p:sp>
        <p:nvSpPr>
          <p:cNvPr id="34" name="Text 32"/>
          <p:cNvSpPr txBox="1"/>
          <p:nvPr/>
        </p:nvSpPr>
        <p:spPr>
          <a:xfrm>
            <a:off x="9802368" y="2761488"/>
            <a:ext cx="1737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1B202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Especificación v2</a:t>
            </a:r>
            <a:endParaRPr lang="en-US" sz="1350" dirty="0"/>
          </a:p>
        </p:txBody>
      </p:sp>
      <p:sp>
        <p:nvSpPr>
          <p:cNvPr id="35" name="Text 33"/>
          <p:cNvSpPr txBox="1"/>
          <p:nvPr/>
        </p:nvSpPr>
        <p:spPr>
          <a:xfrm>
            <a:off x="9802368" y="3346704"/>
            <a:ext cx="17373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300"/>
              </a:lnSpc>
              <a:buNone/>
            </a:pPr>
            <a:r>
              <a:rPr lang="en-US" sz="1050" dirty="0">
                <a:solidFill>
                  <a:srgbClr val="5A64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56 requisitos EARS · Analyze</a:t>
            </a:r>
            <a:endParaRPr lang="en-US" sz="1050" dirty="0"/>
          </a:p>
        </p:txBody>
      </p:sp>
      <p:sp>
        <p:nvSpPr>
          <p:cNvPr id="36" name="Text 34"/>
          <p:cNvSpPr txBox="1"/>
          <p:nvPr/>
        </p:nvSpPr>
        <p:spPr>
          <a:xfrm>
            <a:off x="9802368" y="4114800"/>
            <a:ext cx="1737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F6F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 docs</a:t>
            </a:r>
            <a:endParaRPr lang="en-US" sz="1000" dirty="0"/>
          </a:p>
        </p:txBody>
      </p:sp>
      <p:sp>
        <p:nvSpPr>
          <p:cNvPr id="37" name="Text 35"/>
          <p:cNvSpPr txBox="1"/>
          <p:nvPr/>
        </p:nvSpPr>
        <p:spPr>
          <a:xfrm>
            <a:off x="640080" y="4846320"/>
            <a:ext cx="10881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i="1" dirty="0">
                <a:solidFill>
                  <a:srgbClr val="5A64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Cada afirmación lleva su evidencia: 327 citas archivo:línea verificadas y 39 hashes de commit comprobados con git.</a:t>
            </a:r>
            <a:endParaRPr lang="en-US" sz="13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1B20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954512" y="5623560"/>
            <a:ext cx="2468880" cy="2468880"/>
          </a:xfrm>
          <a:prstGeom prst="ellipse">
            <a:avLst/>
          </a:prstGeom>
          <a:solidFill>
            <a:srgbClr val="00B4A6">
              <a:alpha val="22000"/>
            </a:srgbClr>
          </a:solidFill>
          <a:ln w="12700">
            <a:solidFill>
              <a:srgbClr val="00B4A6">
                <a:alpha val="52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0360152" y="5029200"/>
            <a:ext cx="3657600" cy="3657600"/>
          </a:xfrm>
          <a:prstGeom prst="ellipse">
            <a:avLst/>
          </a:prstGeom>
          <a:solidFill>
            <a:srgbClr val="00B4A6">
              <a:alpha val="14000"/>
            </a:srgbClr>
          </a:solidFill>
          <a:ln w="12700">
            <a:solidFill>
              <a:srgbClr val="00B4A6">
                <a:alpha val="44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9720072" y="4389120"/>
            <a:ext cx="4937760" cy="4937760"/>
          </a:xfrm>
          <a:prstGeom prst="ellipse">
            <a:avLst/>
          </a:prstGeom>
          <a:solidFill>
            <a:srgbClr val="00B4A6">
              <a:alpha val="8000"/>
            </a:srgbClr>
          </a:solidFill>
          <a:ln w="12700">
            <a:solidFill>
              <a:srgbClr val="00B4A6">
                <a:alpha val="38000"/>
              </a:srgbClr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40080" y="384048"/>
            <a:ext cx="10881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00B4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SISTEMA</a:t>
            </a:r>
            <a:endParaRPr lang="en-US" sz="1100" dirty="0"/>
          </a:p>
        </p:txBody>
      </p:sp>
      <p:sp>
        <p:nvSpPr>
          <p:cNvPr id="6" name="Text 4"/>
          <p:cNvSpPr txBox="1"/>
          <p:nvPr/>
        </p:nvSpPr>
        <p:spPr>
          <a:xfrm>
            <a:off x="640080" y="685800"/>
            <a:ext cx="108813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2F5F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Un proceso por máquina, cuatro redes sísmicas</a:t>
            </a:r>
            <a:endParaRPr lang="en-US" sz="3200" dirty="0"/>
          </a:p>
        </p:txBody>
      </p:sp>
      <p:sp>
        <p:nvSpPr>
          <p:cNvPr id="7" name="Shape 5"/>
          <p:cNvSpPr/>
          <p:nvPr/>
        </p:nvSpPr>
        <p:spPr>
          <a:xfrm>
            <a:off x="640080" y="2057400"/>
            <a:ext cx="3200400" cy="512064"/>
          </a:xfrm>
          <a:prstGeom prst="roundRect">
            <a:avLst>
              <a:gd name="adj" fmla="val 14286"/>
            </a:avLst>
          </a:prstGeom>
          <a:solidFill>
            <a:srgbClr val="2E3744"/>
          </a:solidFill>
          <a:ln w="12700">
            <a:solidFill>
              <a:srgbClr val="2E3744"/>
            </a:solidFill>
            <a:prstDash val="solid"/>
          </a:ln>
          <a:effectLst>
            <a:outerShdw sx="100000" sy="100000" kx="0" ky="0" algn="bl" rotWithShape="0" blurRad="76200" dist="12700" dir="5400000">
              <a:srgbClr val="9AA6B5">
                <a:alpha val="22000"/>
              </a:srgbClr>
            </a:outerShdw>
          </a:effectLst>
        </p:spPr>
      </p:sp>
      <p:sp>
        <p:nvSpPr>
          <p:cNvPr id="8" name="Text 6"/>
          <p:cNvSpPr txBox="1"/>
          <p:nvPr/>
        </p:nvSpPr>
        <p:spPr>
          <a:xfrm>
            <a:off x="868680" y="2121408"/>
            <a:ext cx="20116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00B4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EMSC</a:t>
            </a:r>
            <a:endParaRPr lang="en-US" sz="1300" dirty="0"/>
          </a:p>
        </p:txBody>
      </p:sp>
      <p:sp>
        <p:nvSpPr>
          <p:cNvPr id="9" name="Text 7"/>
          <p:cNvSpPr txBox="1"/>
          <p:nvPr/>
        </p:nvSpPr>
        <p:spPr>
          <a:xfrm>
            <a:off x="868680" y="2331720"/>
            <a:ext cx="274320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9AA6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WebSocket · canal primario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640080" y="2660904"/>
            <a:ext cx="3200400" cy="512064"/>
          </a:xfrm>
          <a:prstGeom prst="roundRect">
            <a:avLst>
              <a:gd name="adj" fmla="val 14286"/>
            </a:avLst>
          </a:prstGeom>
          <a:solidFill>
            <a:srgbClr val="2E3744"/>
          </a:solidFill>
          <a:ln w="12700">
            <a:solidFill>
              <a:srgbClr val="2E3744"/>
            </a:solidFill>
            <a:prstDash val="solid"/>
          </a:ln>
          <a:effectLst>
            <a:outerShdw sx="100000" sy="100000" kx="0" ky="0" algn="bl" rotWithShape="0" blurRad="76200" dist="12700" dir="5400000">
              <a:srgbClr val="9AA6B5">
                <a:alpha val="22000"/>
              </a:srgbClr>
            </a:outerShdw>
          </a:effectLst>
        </p:spPr>
      </p:sp>
      <p:sp>
        <p:nvSpPr>
          <p:cNvPr id="11" name="Text 9"/>
          <p:cNvSpPr txBox="1"/>
          <p:nvPr/>
        </p:nvSpPr>
        <p:spPr>
          <a:xfrm>
            <a:off x="868680" y="2724912"/>
            <a:ext cx="20116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00B4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USGS</a:t>
            </a:r>
            <a:endParaRPr lang="en-US" sz="1300" dirty="0"/>
          </a:p>
        </p:txBody>
      </p:sp>
      <p:sp>
        <p:nvSpPr>
          <p:cNvPr id="12" name="Text 10"/>
          <p:cNvSpPr txBox="1"/>
          <p:nvPr/>
        </p:nvSpPr>
        <p:spPr>
          <a:xfrm>
            <a:off x="868680" y="2935224"/>
            <a:ext cx="274320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9AA6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REST · respaldo con cursor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640080" y="3264408"/>
            <a:ext cx="3200400" cy="512064"/>
          </a:xfrm>
          <a:prstGeom prst="roundRect">
            <a:avLst>
              <a:gd name="adj" fmla="val 14286"/>
            </a:avLst>
          </a:prstGeom>
          <a:solidFill>
            <a:srgbClr val="2E3744"/>
          </a:solidFill>
          <a:ln w="12700">
            <a:solidFill>
              <a:srgbClr val="2E3744"/>
            </a:solidFill>
            <a:prstDash val="solid"/>
          </a:ln>
          <a:effectLst>
            <a:outerShdw sx="100000" sy="100000" kx="0" ky="0" algn="bl" rotWithShape="0" blurRad="76200" dist="12700" dir="5400000">
              <a:srgbClr val="9AA6B5">
                <a:alpha val="22000"/>
              </a:srgbClr>
            </a:outerShdw>
          </a:effectLst>
        </p:spPr>
      </p:sp>
      <p:sp>
        <p:nvSpPr>
          <p:cNvPr id="14" name="Text 12"/>
          <p:cNvSpPr txBox="1"/>
          <p:nvPr/>
        </p:nvSpPr>
        <p:spPr>
          <a:xfrm>
            <a:off x="868680" y="3328416"/>
            <a:ext cx="20116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00B4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GEOFON</a:t>
            </a:r>
            <a:endParaRPr lang="en-US" sz="1300" dirty="0"/>
          </a:p>
        </p:txBody>
      </p:sp>
      <p:sp>
        <p:nvSpPr>
          <p:cNvPr id="15" name="Text 13"/>
          <p:cNvSpPr txBox="1"/>
          <p:nvPr/>
        </p:nvSpPr>
        <p:spPr>
          <a:xfrm>
            <a:off x="868680" y="3538728"/>
            <a:ext cx="274320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9AA6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REST · red independiente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640080" y="3867912"/>
            <a:ext cx="3200400" cy="512064"/>
          </a:xfrm>
          <a:prstGeom prst="roundRect">
            <a:avLst>
              <a:gd name="adj" fmla="val 14286"/>
            </a:avLst>
          </a:prstGeom>
          <a:solidFill>
            <a:srgbClr val="2E3744"/>
          </a:solidFill>
          <a:ln w="12700">
            <a:solidFill>
              <a:srgbClr val="2E3744"/>
            </a:solidFill>
            <a:prstDash val="solid"/>
          </a:ln>
          <a:effectLst>
            <a:outerShdw sx="100000" sy="100000" kx="0" ky="0" algn="bl" rotWithShape="0" blurRad="76200" dist="12700" dir="5400000">
              <a:srgbClr val="9AA6B5">
                <a:alpha val="22000"/>
              </a:srgbClr>
            </a:outerShdw>
          </a:effectLst>
        </p:spPr>
      </p:sp>
      <p:sp>
        <p:nvSpPr>
          <p:cNvPr id="17" name="Text 15"/>
          <p:cNvSpPr txBox="1"/>
          <p:nvPr/>
        </p:nvSpPr>
        <p:spPr>
          <a:xfrm>
            <a:off x="868680" y="3931920"/>
            <a:ext cx="20116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00B4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FUNVISIS</a:t>
            </a:r>
            <a:endParaRPr lang="en-US" sz="1300" dirty="0"/>
          </a:p>
        </p:txBody>
      </p:sp>
      <p:sp>
        <p:nvSpPr>
          <p:cNvPr id="18" name="Text 16"/>
          <p:cNvSpPr txBox="1"/>
          <p:nvPr/>
        </p:nvSpPr>
        <p:spPr>
          <a:xfrm>
            <a:off x="868680" y="4142232"/>
            <a:ext cx="274320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9AA6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REST · cobertura local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4343400" y="2057400"/>
            <a:ext cx="3291840" cy="2331720"/>
          </a:xfrm>
          <a:prstGeom prst="roundRect">
            <a:avLst>
              <a:gd name="adj" fmla="val 3137"/>
            </a:avLst>
          </a:prstGeom>
          <a:solidFill>
            <a:srgbClr val="2E3744"/>
          </a:solidFill>
          <a:ln w="12700">
            <a:solidFill>
              <a:srgbClr val="2E3744"/>
            </a:solidFill>
            <a:prstDash val="solid"/>
          </a:ln>
          <a:effectLst>
            <a:outerShdw sx="100000" sy="100000" kx="0" ky="0" algn="bl" rotWithShape="0" blurRad="76200" dist="12700" dir="5400000">
              <a:srgbClr val="9AA6B5">
                <a:alpha val="22000"/>
              </a:srgbClr>
            </a:outerShdw>
          </a:effectLst>
        </p:spPr>
      </p:sp>
      <p:sp>
        <p:nvSpPr>
          <p:cNvPr id="20" name="Text 18"/>
          <p:cNvSpPr txBox="1"/>
          <p:nvPr/>
        </p:nvSpPr>
        <p:spPr>
          <a:xfrm>
            <a:off x="4617720" y="228600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F2F5F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Pipeline</a:t>
            </a:r>
            <a:endParaRPr lang="en-US" sz="1600" dirty="0"/>
          </a:p>
        </p:txBody>
      </p:sp>
      <p:sp>
        <p:nvSpPr>
          <p:cNvPr id="21" name="Text 19"/>
          <p:cNvSpPr txBox="1"/>
          <p:nvPr/>
        </p:nvSpPr>
        <p:spPr>
          <a:xfrm>
            <a:off x="4617720" y="2697480"/>
            <a:ext cx="278892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700"/>
              </a:lnSpc>
              <a:buNone/>
            </a:pPr>
            <a:r>
              <a:rPr lang="en-US" sz="1200" dirty="0">
                <a:solidFill>
                  <a:srgbClr val="9AA6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normalizar → filtrar → deduplicar</a:t>
            </a:r>
            <a:endParaRPr lang="en-US" sz="1200" dirty="0"/>
          </a:p>
          <a:p>
            <a:pPr indent="0" marL="0">
              <a:lnSpc>
                <a:spcPts val="1700"/>
              </a:lnSpc>
              <a:buNone/>
            </a:pPr>
            <a:endParaRPr lang="en-US" sz="1200" dirty="0"/>
          </a:p>
          <a:p>
            <a:pPr indent="0" marL="0">
              <a:lnSpc>
                <a:spcPts val="1700"/>
              </a:lnSpc>
              <a:buNone/>
            </a:pPr>
            <a:r>
              <a:rPr lang="en-US" sz="1200" dirty="0">
                <a:solidFill>
                  <a:srgbClr val="9AA6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 solo contrato interno.</a:t>
            </a:r>
            <a:endParaRPr lang="en-US" sz="1200" dirty="0"/>
          </a:p>
          <a:p>
            <a:pPr indent="0" marL="0">
              <a:lnSpc>
                <a:spcPts val="1700"/>
              </a:lnSpc>
              <a:buNone/>
            </a:pPr>
            <a:r>
              <a:rPr lang="en-US" sz="1200" dirty="0">
                <a:solidFill>
                  <a:srgbClr val="9AA6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Filtro antes que dedup:</a:t>
            </a:r>
            <a:endParaRPr lang="en-US" sz="1200" dirty="0"/>
          </a:p>
          <a:p>
            <a:pPr indent="0" marL="0">
              <a:lnSpc>
                <a:spcPts val="1700"/>
              </a:lnSpc>
              <a:buNone/>
            </a:pPr>
            <a:r>
              <a:rPr lang="en-US" sz="1200" dirty="0">
                <a:solidFill>
                  <a:srgbClr val="9AA6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invariante, no estilo.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8138160" y="2057400"/>
            <a:ext cx="3383280" cy="2331720"/>
          </a:xfrm>
          <a:prstGeom prst="roundRect">
            <a:avLst>
              <a:gd name="adj" fmla="val 3137"/>
            </a:avLst>
          </a:prstGeom>
          <a:solidFill>
            <a:srgbClr val="2E3744"/>
          </a:solidFill>
          <a:ln w="12700">
            <a:solidFill>
              <a:srgbClr val="2E3744"/>
            </a:solidFill>
            <a:prstDash val="solid"/>
          </a:ln>
          <a:effectLst>
            <a:outerShdw sx="100000" sy="100000" kx="0" ky="0" algn="bl" rotWithShape="0" blurRad="76200" dist="12700" dir="5400000">
              <a:srgbClr val="9AA6B5">
                <a:alpha val="22000"/>
              </a:srgbClr>
            </a:outerShdw>
          </a:effectLst>
        </p:spPr>
      </p:sp>
      <p:sp>
        <p:nvSpPr>
          <p:cNvPr id="23" name="Text 21"/>
          <p:cNvSpPr txBox="1"/>
          <p:nvPr/>
        </p:nvSpPr>
        <p:spPr>
          <a:xfrm>
            <a:off x="8412480" y="2286000"/>
            <a:ext cx="2926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F2F5F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Alerta no descartable</a:t>
            </a:r>
            <a:endParaRPr lang="en-US" sz="1600" dirty="0"/>
          </a:p>
        </p:txBody>
      </p:sp>
      <p:sp>
        <p:nvSpPr>
          <p:cNvPr id="24" name="Text 22"/>
          <p:cNvSpPr txBox="1"/>
          <p:nvPr/>
        </p:nvSpPr>
        <p:spPr>
          <a:xfrm>
            <a:off x="8412480" y="2697480"/>
            <a:ext cx="288036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700"/>
              </a:lnSpc>
              <a:buNone/>
            </a:pPr>
            <a:r>
              <a:rPr lang="en-US" sz="1200" dirty="0">
                <a:solidFill>
                  <a:srgbClr val="9AA6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Solo el acuse explícito la cierra.</a:t>
            </a:r>
            <a:endParaRPr lang="en-US" sz="1200" dirty="0"/>
          </a:p>
          <a:p>
            <a:pPr indent="0" marL="0">
              <a:lnSpc>
                <a:spcPts val="1700"/>
              </a:lnSpc>
              <a:buNone/>
            </a:pPr>
            <a:endParaRPr lang="en-US" sz="1200" dirty="0"/>
          </a:p>
          <a:p>
            <a:pPr indent="0" marL="0">
              <a:lnSpc>
                <a:spcPts val="1700"/>
              </a:lnSpc>
              <a:buNone/>
            </a:pPr>
            <a:r>
              <a:rPr lang="en-US" sz="1200" dirty="0">
                <a:solidFill>
                  <a:srgbClr val="9AA6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Tres frontends: ventana Tk,</a:t>
            </a:r>
            <a:endParaRPr lang="en-US" sz="1200" dirty="0"/>
          </a:p>
          <a:p>
            <a:pPr indent="0" marL="0">
              <a:lnSpc>
                <a:spcPts val="1700"/>
              </a:lnSpc>
              <a:buNone/>
            </a:pPr>
            <a:r>
              <a:rPr lang="en-US" sz="1200" dirty="0">
                <a:solidFill>
                  <a:srgbClr val="9AA6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panel de terminal, bandeja.</a:t>
            </a:r>
            <a:endParaRPr lang="en-US" sz="1200" dirty="0"/>
          </a:p>
        </p:txBody>
      </p:sp>
      <p:sp>
        <p:nvSpPr>
          <p:cNvPr id="25" name="Text 23"/>
          <p:cNvSpPr txBox="1"/>
          <p:nvPr/>
        </p:nvSpPr>
        <p:spPr>
          <a:xfrm>
            <a:off x="640080" y="4892040"/>
            <a:ext cx="10881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00B4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 servidor. Sin base de datos. Sin contenedores. Es software de escritorio.</a:t>
            </a:r>
            <a:endParaRPr lang="en-US" sz="13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EEF1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954512" y="5623560"/>
            <a:ext cx="2468880" cy="2468880"/>
          </a:xfrm>
          <a:prstGeom prst="ellipse">
            <a:avLst/>
          </a:prstGeom>
          <a:solidFill>
            <a:srgbClr val="00B4A6">
              <a:alpha val="22000"/>
            </a:srgbClr>
          </a:solidFill>
          <a:ln w="12700">
            <a:solidFill>
              <a:srgbClr val="00B4A6">
                <a:alpha val="52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0360152" y="5029200"/>
            <a:ext cx="3657600" cy="3657600"/>
          </a:xfrm>
          <a:prstGeom prst="ellipse">
            <a:avLst/>
          </a:prstGeom>
          <a:solidFill>
            <a:srgbClr val="00B4A6">
              <a:alpha val="14000"/>
            </a:srgbClr>
          </a:solidFill>
          <a:ln w="12700">
            <a:solidFill>
              <a:srgbClr val="00B4A6">
                <a:alpha val="44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9720072" y="4389120"/>
            <a:ext cx="4937760" cy="4937760"/>
          </a:xfrm>
          <a:prstGeom prst="ellipse">
            <a:avLst/>
          </a:prstGeom>
          <a:solidFill>
            <a:srgbClr val="00B4A6">
              <a:alpha val="8000"/>
            </a:srgbClr>
          </a:solidFill>
          <a:ln w="12700">
            <a:solidFill>
              <a:srgbClr val="00B4A6">
                <a:alpha val="38000"/>
              </a:srgbClr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40080" y="384048"/>
            <a:ext cx="10881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00B4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AUDITORÍA DE CÓDIGO</a:t>
            </a:r>
            <a:endParaRPr lang="en-US" sz="1100" dirty="0"/>
          </a:p>
        </p:txBody>
      </p:sp>
      <p:sp>
        <p:nvSpPr>
          <p:cNvPr id="6" name="Text 4"/>
          <p:cNvSpPr txBox="1"/>
          <p:nvPr/>
        </p:nvSpPr>
        <p:spPr>
          <a:xfrm>
            <a:off x="640080" y="685800"/>
            <a:ext cx="108813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B202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Ocho dimensiones, cero hallazgos P1</a:t>
            </a:r>
            <a:endParaRPr lang="en-US" sz="3200" dirty="0"/>
          </a:p>
        </p:txBody>
      </p:sp>
      <p:sp>
        <p:nvSpPr>
          <p:cNvPr id="7" name="Shape 5"/>
          <p:cNvSpPr/>
          <p:nvPr/>
        </p:nvSpPr>
        <p:spPr>
          <a:xfrm>
            <a:off x="640080" y="1783080"/>
            <a:ext cx="2606040" cy="1261872"/>
          </a:xfrm>
          <a:prstGeom prst="roundRect">
            <a:avLst>
              <a:gd name="adj" fmla="val 5797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76200" dist="12700" dir="5400000">
              <a:srgbClr val="9AA6B5">
                <a:alpha val="22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868680" y="2011680"/>
            <a:ext cx="274320" cy="274320"/>
          </a:xfrm>
          <a:prstGeom prst="ellipse">
            <a:avLst/>
          </a:prstGeom>
          <a:solidFill>
            <a:srgbClr val="27AE60"/>
          </a:solidFill>
          <a:ln w="12700">
            <a:solidFill>
              <a:srgbClr val="27AE60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1243584" y="2002536"/>
            <a:ext cx="18288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1B202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DRY</a:t>
            </a:r>
            <a:endParaRPr lang="en-US" sz="1250" dirty="0"/>
          </a:p>
        </p:txBody>
      </p:sp>
      <p:sp>
        <p:nvSpPr>
          <p:cNvPr id="10" name="Text 8"/>
          <p:cNvSpPr txBox="1"/>
          <p:nvPr/>
        </p:nvSpPr>
        <p:spPr>
          <a:xfrm>
            <a:off x="868680" y="2441448"/>
            <a:ext cx="2194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300"/>
              </a:lnSpc>
              <a:buNone/>
            </a:pPr>
            <a:r>
              <a:rPr lang="en-US" sz="1100" dirty="0">
                <a:solidFill>
                  <a:srgbClr val="5A64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0,95 % duplicado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3447288" y="1783080"/>
            <a:ext cx="2606040" cy="1261872"/>
          </a:xfrm>
          <a:prstGeom prst="roundRect">
            <a:avLst>
              <a:gd name="adj" fmla="val 5797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76200" dist="12700" dir="5400000">
              <a:srgbClr val="9AA6B5">
                <a:alpha val="22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3675888" y="2011680"/>
            <a:ext cx="274320" cy="274320"/>
          </a:xfrm>
          <a:prstGeom prst="ellipse">
            <a:avLst/>
          </a:prstGeom>
          <a:solidFill>
            <a:srgbClr val="E8A33D"/>
          </a:solidFill>
          <a:ln w="12700">
            <a:solidFill>
              <a:srgbClr val="E8A33D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4050792" y="2002536"/>
            <a:ext cx="18288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1B202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SOLID</a:t>
            </a:r>
            <a:endParaRPr lang="en-US" sz="1250" dirty="0"/>
          </a:p>
        </p:txBody>
      </p:sp>
      <p:sp>
        <p:nvSpPr>
          <p:cNvPr id="14" name="Text 12"/>
          <p:cNvSpPr txBox="1"/>
          <p:nvPr/>
        </p:nvSpPr>
        <p:spPr>
          <a:xfrm>
            <a:off x="3675888" y="2441448"/>
            <a:ext cx="2194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300"/>
              </a:lnSpc>
              <a:buNone/>
            </a:pPr>
            <a:r>
              <a:rPr lang="en-US" sz="1100" dirty="0">
                <a:solidFill>
                  <a:srgbClr val="5A64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 y O en ámbar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6254496" y="1783080"/>
            <a:ext cx="2606040" cy="1261872"/>
          </a:xfrm>
          <a:prstGeom prst="roundRect">
            <a:avLst>
              <a:gd name="adj" fmla="val 5797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76200" dist="12700" dir="5400000">
              <a:srgbClr val="9AA6B5">
                <a:alpha val="22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6483096" y="2011680"/>
            <a:ext cx="274320" cy="274320"/>
          </a:xfrm>
          <a:prstGeom prst="ellipse">
            <a:avLst/>
          </a:prstGeom>
          <a:solidFill>
            <a:srgbClr val="8892A6"/>
          </a:solidFill>
          <a:ln w="12700">
            <a:solidFill>
              <a:srgbClr val="8892A6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6858000" y="2002536"/>
            <a:ext cx="18288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1B202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Pruebas unitarias</a:t>
            </a:r>
            <a:endParaRPr lang="en-US" sz="1250" dirty="0"/>
          </a:p>
        </p:txBody>
      </p:sp>
      <p:sp>
        <p:nvSpPr>
          <p:cNvPr id="18" name="Text 16"/>
          <p:cNvSpPr txBox="1"/>
          <p:nvPr/>
        </p:nvSpPr>
        <p:spPr>
          <a:xfrm>
            <a:off x="6483096" y="2441448"/>
            <a:ext cx="2194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300"/>
              </a:lnSpc>
              <a:buNone/>
            </a:pPr>
            <a:r>
              <a:rPr lang="en-US" sz="1100" dirty="0">
                <a:solidFill>
                  <a:srgbClr val="5A64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cobertura no medible aquí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9061704" y="1783080"/>
            <a:ext cx="2606040" cy="1261872"/>
          </a:xfrm>
          <a:prstGeom prst="roundRect">
            <a:avLst>
              <a:gd name="adj" fmla="val 5797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76200" dist="12700" dir="5400000">
              <a:srgbClr val="9AA6B5">
                <a:alpha val="22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9290304" y="2011680"/>
            <a:ext cx="274320" cy="274320"/>
          </a:xfrm>
          <a:prstGeom prst="ellipse">
            <a:avLst/>
          </a:prstGeom>
          <a:solidFill>
            <a:srgbClr val="E8A33D"/>
          </a:solidFill>
          <a:ln w="12700">
            <a:solidFill>
              <a:srgbClr val="E8A33D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9665208" y="2002536"/>
            <a:ext cx="18288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1B202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Pruebas integración</a:t>
            </a:r>
            <a:endParaRPr lang="en-US" sz="1250" dirty="0"/>
          </a:p>
        </p:txBody>
      </p:sp>
      <p:sp>
        <p:nvSpPr>
          <p:cNvPr id="22" name="Text 20"/>
          <p:cNvSpPr txBox="1"/>
          <p:nvPr/>
        </p:nvSpPr>
        <p:spPr>
          <a:xfrm>
            <a:off x="9290304" y="2441448"/>
            <a:ext cx="2194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300"/>
              </a:lnSpc>
              <a:buNone/>
            </a:pPr>
            <a:r>
              <a:rPr lang="en-US" sz="1100" dirty="0">
                <a:solidFill>
                  <a:srgbClr val="5A64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 separación formal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640080" y="3264408"/>
            <a:ext cx="2606040" cy="1261872"/>
          </a:xfrm>
          <a:prstGeom prst="roundRect">
            <a:avLst>
              <a:gd name="adj" fmla="val 5797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76200" dist="12700" dir="5400000">
              <a:srgbClr val="9AA6B5">
                <a:alpha val="22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868680" y="3493008"/>
            <a:ext cx="274320" cy="274320"/>
          </a:xfrm>
          <a:prstGeom prst="ellipse">
            <a:avLst/>
          </a:prstGeom>
          <a:solidFill>
            <a:srgbClr val="27AE60"/>
          </a:solidFill>
          <a:ln w="12700">
            <a:solidFill>
              <a:srgbClr val="27AE60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1243584" y="3483864"/>
            <a:ext cx="18288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1B202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SAST</a:t>
            </a:r>
            <a:endParaRPr lang="en-US" sz="1250" dirty="0"/>
          </a:p>
        </p:txBody>
      </p:sp>
      <p:sp>
        <p:nvSpPr>
          <p:cNvPr id="26" name="Text 24"/>
          <p:cNvSpPr txBox="1"/>
          <p:nvPr/>
        </p:nvSpPr>
        <p:spPr>
          <a:xfrm>
            <a:off x="868680" y="3922776"/>
            <a:ext cx="2194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300"/>
              </a:lnSpc>
              <a:buNone/>
            </a:pPr>
            <a:r>
              <a:rPr lang="en-US" sz="1100" dirty="0">
                <a:solidFill>
                  <a:srgbClr val="5A64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 HIGH sobre 3.565 LOC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3447288" y="3264408"/>
            <a:ext cx="2606040" cy="1261872"/>
          </a:xfrm>
          <a:prstGeom prst="roundRect">
            <a:avLst>
              <a:gd name="adj" fmla="val 5797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76200" dist="12700" dir="5400000">
              <a:srgbClr val="9AA6B5">
                <a:alpha val="22000"/>
              </a:srgbClr>
            </a:outerShdw>
          </a:effectLst>
        </p:spPr>
      </p:sp>
      <p:sp>
        <p:nvSpPr>
          <p:cNvPr id="28" name="Shape 26"/>
          <p:cNvSpPr/>
          <p:nvPr/>
        </p:nvSpPr>
        <p:spPr>
          <a:xfrm>
            <a:off x="3675888" y="3493008"/>
            <a:ext cx="274320" cy="274320"/>
          </a:xfrm>
          <a:prstGeom prst="ellipse">
            <a:avLst/>
          </a:prstGeom>
          <a:solidFill>
            <a:srgbClr val="27AE60"/>
          </a:solidFill>
          <a:ln w="12700">
            <a:solidFill>
              <a:srgbClr val="27AE60"/>
            </a:solidFill>
            <a:prstDash val="solid"/>
          </a:ln>
        </p:spPr>
      </p:sp>
      <p:sp>
        <p:nvSpPr>
          <p:cNvPr id="29" name="Text 27"/>
          <p:cNvSpPr txBox="1"/>
          <p:nvPr/>
        </p:nvSpPr>
        <p:spPr>
          <a:xfrm>
            <a:off x="4050792" y="3483864"/>
            <a:ext cx="18288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1B202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SCA</a:t>
            </a:r>
            <a:endParaRPr lang="en-US" sz="1250" dirty="0"/>
          </a:p>
        </p:txBody>
      </p:sp>
      <p:sp>
        <p:nvSpPr>
          <p:cNvPr id="30" name="Text 28"/>
          <p:cNvSpPr txBox="1"/>
          <p:nvPr/>
        </p:nvSpPr>
        <p:spPr>
          <a:xfrm>
            <a:off x="3675888" y="3922776"/>
            <a:ext cx="2194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300"/>
              </a:lnSpc>
              <a:buNone/>
            </a:pPr>
            <a:r>
              <a:rPr lang="en-US" sz="1100" dirty="0">
                <a:solidFill>
                  <a:srgbClr val="5A64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de 90 paquetes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6254496" y="3264408"/>
            <a:ext cx="2606040" cy="1261872"/>
          </a:xfrm>
          <a:prstGeom prst="roundRect">
            <a:avLst>
              <a:gd name="adj" fmla="val 5797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76200" dist="12700" dir="5400000">
              <a:srgbClr val="9AA6B5">
                <a:alpha val="22000"/>
              </a:srgbClr>
            </a:outerShdw>
          </a:effectLst>
        </p:spPr>
      </p:sp>
      <p:sp>
        <p:nvSpPr>
          <p:cNvPr id="32" name="Shape 30"/>
          <p:cNvSpPr/>
          <p:nvPr/>
        </p:nvSpPr>
        <p:spPr>
          <a:xfrm>
            <a:off x="6483096" y="3493008"/>
            <a:ext cx="274320" cy="274320"/>
          </a:xfrm>
          <a:prstGeom prst="ellipse">
            <a:avLst/>
          </a:prstGeom>
          <a:solidFill>
            <a:srgbClr val="27AE60"/>
          </a:solidFill>
          <a:ln w="12700">
            <a:solidFill>
              <a:srgbClr val="27AE60"/>
            </a:solidFill>
            <a:prstDash val="solid"/>
          </a:ln>
        </p:spPr>
      </p:sp>
      <p:sp>
        <p:nvSpPr>
          <p:cNvPr id="33" name="Text 31"/>
          <p:cNvSpPr txBox="1"/>
          <p:nvPr/>
        </p:nvSpPr>
        <p:spPr>
          <a:xfrm>
            <a:off x="6858000" y="3483864"/>
            <a:ext cx="18288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1B202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Secretos</a:t>
            </a:r>
            <a:endParaRPr lang="en-US" sz="1250" dirty="0"/>
          </a:p>
        </p:txBody>
      </p:sp>
      <p:sp>
        <p:nvSpPr>
          <p:cNvPr id="34" name="Text 32"/>
          <p:cNvSpPr txBox="1"/>
          <p:nvPr/>
        </p:nvSpPr>
        <p:spPr>
          <a:xfrm>
            <a:off x="6483096" y="3922776"/>
            <a:ext cx="2194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300"/>
              </a:lnSpc>
              <a:buNone/>
            </a:pPr>
            <a:r>
              <a:rPr lang="en-US" sz="1100" dirty="0">
                <a:solidFill>
                  <a:srgbClr val="5A64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 en árbol e historia</a:t>
            </a:r>
            <a:endParaRPr lang="en-US" sz="1100" dirty="0"/>
          </a:p>
        </p:txBody>
      </p:sp>
      <p:sp>
        <p:nvSpPr>
          <p:cNvPr id="35" name="Shape 33"/>
          <p:cNvSpPr/>
          <p:nvPr/>
        </p:nvSpPr>
        <p:spPr>
          <a:xfrm>
            <a:off x="9061704" y="3264408"/>
            <a:ext cx="2606040" cy="1261872"/>
          </a:xfrm>
          <a:prstGeom prst="roundRect">
            <a:avLst>
              <a:gd name="adj" fmla="val 5797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76200" dist="12700" dir="5400000">
              <a:srgbClr val="9AA6B5">
                <a:alpha val="22000"/>
              </a:srgbClr>
            </a:outerShdw>
          </a:effectLst>
        </p:spPr>
      </p:sp>
      <p:sp>
        <p:nvSpPr>
          <p:cNvPr id="36" name="Shape 34"/>
          <p:cNvSpPr/>
          <p:nvPr/>
        </p:nvSpPr>
        <p:spPr>
          <a:xfrm>
            <a:off x="9290304" y="3493008"/>
            <a:ext cx="274320" cy="274320"/>
          </a:xfrm>
          <a:prstGeom prst="ellipse">
            <a:avLst/>
          </a:prstGeom>
          <a:solidFill>
            <a:srgbClr val="8892A6"/>
          </a:solidFill>
          <a:ln w="12700">
            <a:solidFill>
              <a:srgbClr val="8892A6"/>
            </a:solidFill>
            <a:prstDash val="solid"/>
          </a:ln>
        </p:spPr>
      </p:sp>
      <p:sp>
        <p:nvSpPr>
          <p:cNvPr id="37" name="Text 35"/>
          <p:cNvSpPr txBox="1"/>
          <p:nvPr/>
        </p:nvSpPr>
        <p:spPr>
          <a:xfrm>
            <a:off x="9665208" y="3483864"/>
            <a:ext cx="18288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1B202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Contenedores</a:t>
            </a:r>
            <a:endParaRPr lang="en-US" sz="1250" dirty="0"/>
          </a:p>
        </p:txBody>
      </p:sp>
      <p:sp>
        <p:nvSpPr>
          <p:cNvPr id="38" name="Text 36"/>
          <p:cNvSpPr txBox="1"/>
          <p:nvPr/>
        </p:nvSpPr>
        <p:spPr>
          <a:xfrm>
            <a:off x="9290304" y="3922776"/>
            <a:ext cx="2194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300"/>
              </a:lnSpc>
              <a:buNone/>
            </a:pPr>
            <a:r>
              <a:rPr lang="en-US" sz="1100" dirty="0">
                <a:solidFill>
                  <a:srgbClr val="5A64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fuera de alcance</a:t>
            </a:r>
            <a:endParaRPr lang="en-US" sz="1100" dirty="0"/>
          </a:p>
        </p:txBody>
      </p:sp>
      <p:sp>
        <p:nvSpPr>
          <p:cNvPr id="39" name="Shape 37"/>
          <p:cNvSpPr/>
          <p:nvPr/>
        </p:nvSpPr>
        <p:spPr>
          <a:xfrm>
            <a:off x="640080" y="4846320"/>
            <a:ext cx="10899648" cy="960120"/>
          </a:xfrm>
          <a:prstGeom prst="roundRect">
            <a:avLst>
              <a:gd name="adj" fmla="val 7619"/>
            </a:avLst>
          </a:prstGeom>
          <a:solidFill>
            <a:srgbClr val="1B2028"/>
          </a:solidFill>
          <a:ln w="12700">
            <a:solidFill>
              <a:srgbClr val="1B2028"/>
            </a:solidFill>
            <a:prstDash val="solid"/>
          </a:ln>
          <a:effectLst>
            <a:outerShdw sx="100000" sy="100000" kx="0" ky="0" algn="bl" rotWithShape="0" blurRad="76200" dist="12700" dir="5400000">
              <a:srgbClr val="9AA6B5">
                <a:alpha val="22000"/>
              </a:srgbClr>
            </a:outerShdw>
          </a:effectLst>
        </p:spPr>
      </p:sp>
      <p:sp>
        <p:nvSpPr>
          <p:cNvPr id="40" name="Text 38"/>
          <p:cNvSpPr txBox="1"/>
          <p:nvPr/>
        </p:nvSpPr>
        <p:spPr>
          <a:xfrm>
            <a:off x="914400" y="502920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rgbClr val="F2F5F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 hallazgos P1  ·  5 P2  ·  8 P3</a:t>
            </a:r>
            <a:endParaRPr lang="en-US" sz="2000" dirty="0"/>
          </a:p>
        </p:txBody>
      </p:sp>
      <p:sp>
        <p:nvSpPr>
          <p:cNvPr id="41" name="Text 39"/>
          <p:cNvSpPr txBox="1"/>
          <p:nvPr/>
        </p:nvSpPr>
        <p:spPr>
          <a:xfrm>
            <a:off x="5669280" y="5093208"/>
            <a:ext cx="5577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9AA6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Los cinco P2 son de gate, no de código. Todos de tamaño S.</a:t>
            </a:r>
            <a:endParaRPr lang="en-US" sz="13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1B20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954512" y="5623560"/>
            <a:ext cx="2468880" cy="2468880"/>
          </a:xfrm>
          <a:prstGeom prst="ellipse">
            <a:avLst/>
          </a:prstGeom>
          <a:solidFill>
            <a:srgbClr val="00B4A6">
              <a:alpha val="22000"/>
            </a:srgbClr>
          </a:solidFill>
          <a:ln w="12700">
            <a:solidFill>
              <a:srgbClr val="00B4A6">
                <a:alpha val="52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0360152" y="5029200"/>
            <a:ext cx="3657600" cy="3657600"/>
          </a:xfrm>
          <a:prstGeom prst="ellipse">
            <a:avLst/>
          </a:prstGeom>
          <a:solidFill>
            <a:srgbClr val="00B4A6">
              <a:alpha val="14000"/>
            </a:srgbClr>
          </a:solidFill>
          <a:ln w="12700">
            <a:solidFill>
              <a:srgbClr val="00B4A6">
                <a:alpha val="44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9720072" y="4389120"/>
            <a:ext cx="4937760" cy="4937760"/>
          </a:xfrm>
          <a:prstGeom prst="ellipse">
            <a:avLst/>
          </a:prstGeom>
          <a:solidFill>
            <a:srgbClr val="00B4A6">
              <a:alpha val="8000"/>
            </a:srgbClr>
          </a:solidFill>
          <a:ln w="12700">
            <a:solidFill>
              <a:srgbClr val="00B4A6">
                <a:alpha val="38000"/>
              </a:srgbClr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40080" y="384048"/>
            <a:ext cx="10881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00B4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SEGURIDAD · 1 DE 2</a:t>
            </a:r>
            <a:endParaRPr lang="en-US" sz="1100" dirty="0"/>
          </a:p>
        </p:txBody>
      </p:sp>
      <p:sp>
        <p:nvSpPr>
          <p:cNvPr id="6" name="Text 4"/>
          <p:cNvSpPr txBox="1"/>
          <p:nvPr/>
        </p:nvSpPr>
        <p:spPr>
          <a:xfrm>
            <a:off x="640080" y="685800"/>
            <a:ext cx="108813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2F5F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Secretos y análisis estático</a:t>
            </a:r>
            <a:endParaRPr lang="en-US" sz="3200" dirty="0"/>
          </a:p>
        </p:txBody>
      </p:sp>
      <p:sp>
        <p:nvSpPr>
          <p:cNvPr id="7" name="Shape 5"/>
          <p:cNvSpPr/>
          <p:nvPr/>
        </p:nvSpPr>
        <p:spPr>
          <a:xfrm>
            <a:off x="640080" y="1783080"/>
            <a:ext cx="3429000" cy="1828800"/>
          </a:xfrm>
          <a:prstGeom prst="roundRect">
            <a:avLst>
              <a:gd name="adj" fmla="val 4000"/>
            </a:avLst>
          </a:prstGeom>
          <a:solidFill>
            <a:srgbClr val="2E3744"/>
          </a:solidFill>
          <a:ln w="12700">
            <a:solidFill>
              <a:srgbClr val="2E3744"/>
            </a:solidFill>
            <a:prstDash val="solid"/>
          </a:ln>
          <a:effectLst>
            <a:outerShdw sx="100000" sy="100000" kx="0" ky="0" algn="bl" rotWithShape="0" blurRad="76200" dist="12700" dir="5400000">
              <a:srgbClr val="9AA6B5">
                <a:alpha val="22000"/>
              </a:srgbClr>
            </a:outerShdw>
          </a:effectLst>
        </p:spPr>
      </p:sp>
      <p:sp>
        <p:nvSpPr>
          <p:cNvPr id="8" name="Text 6"/>
          <p:cNvSpPr txBox="1"/>
          <p:nvPr/>
        </p:nvSpPr>
        <p:spPr>
          <a:xfrm>
            <a:off x="914400" y="1965960"/>
            <a:ext cx="28803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6000" b="1" dirty="0">
                <a:solidFill>
                  <a:srgbClr val="27AE6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</a:t>
            </a:r>
            <a:endParaRPr lang="en-US" sz="6000" dirty="0"/>
          </a:p>
        </p:txBody>
      </p:sp>
      <p:sp>
        <p:nvSpPr>
          <p:cNvPr id="9" name="Text 7"/>
          <p:cNvSpPr txBox="1"/>
          <p:nvPr/>
        </p:nvSpPr>
        <p:spPr>
          <a:xfrm>
            <a:off x="914400" y="2880360"/>
            <a:ext cx="2880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500"/>
              </a:lnSpc>
              <a:buNone/>
            </a:pPr>
            <a:r>
              <a:rPr lang="en-US" sz="1200" dirty="0">
                <a:solidFill>
                  <a:srgbClr val="9AA6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secretos en el árbol</a:t>
            </a:r>
            <a:endParaRPr lang="en-US" sz="1200" dirty="0"/>
          </a:p>
          <a:p>
            <a:pPr indent="0" marL="0">
              <a:lnSpc>
                <a:spcPts val="1500"/>
              </a:lnSpc>
              <a:buNone/>
            </a:pPr>
            <a:r>
              <a:rPr lang="en-US" sz="1200" dirty="0">
                <a:solidFill>
                  <a:srgbClr val="9AA6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 trabajo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4361688" y="1783080"/>
            <a:ext cx="3429000" cy="1828800"/>
          </a:xfrm>
          <a:prstGeom prst="roundRect">
            <a:avLst>
              <a:gd name="adj" fmla="val 4000"/>
            </a:avLst>
          </a:prstGeom>
          <a:solidFill>
            <a:srgbClr val="2E3744"/>
          </a:solidFill>
          <a:ln w="12700">
            <a:solidFill>
              <a:srgbClr val="2E3744"/>
            </a:solidFill>
            <a:prstDash val="solid"/>
          </a:ln>
          <a:effectLst>
            <a:outerShdw sx="100000" sy="100000" kx="0" ky="0" algn="bl" rotWithShape="0" blurRad="76200" dist="12700" dir="5400000">
              <a:srgbClr val="9AA6B5">
                <a:alpha val="22000"/>
              </a:srgbClr>
            </a:outerShdw>
          </a:effectLst>
        </p:spPr>
      </p:sp>
      <p:sp>
        <p:nvSpPr>
          <p:cNvPr id="11" name="Text 9"/>
          <p:cNvSpPr txBox="1"/>
          <p:nvPr/>
        </p:nvSpPr>
        <p:spPr>
          <a:xfrm>
            <a:off x="4636008" y="1965960"/>
            <a:ext cx="28803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6000" b="1" dirty="0">
                <a:solidFill>
                  <a:srgbClr val="27AE6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</a:t>
            </a:r>
            <a:endParaRPr lang="en-US" sz="6000" dirty="0"/>
          </a:p>
        </p:txBody>
      </p:sp>
      <p:sp>
        <p:nvSpPr>
          <p:cNvPr id="12" name="Text 10"/>
          <p:cNvSpPr txBox="1"/>
          <p:nvPr/>
        </p:nvSpPr>
        <p:spPr>
          <a:xfrm>
            <a:off x="4636008" y="2880360"/>
            <a:ext cx="2880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500"/>
              </a:lnSpc>
              <a:buNone/>
            </a:pPr>
            <a:r>
              <a:rPr lang="en-US" sz="1200" dirty="0">
                <a:solidFill>
                  <a:srgbClr val="9AA6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secretos en los 59 commits</a:t>
            </a:r>
            <a:endParaRPr lang="en-US" sz="1200" dirty="0"/>
          </a:p>
          <a:p>
            <a:pPr indent="0" marL="0">
              <a:lnSpc>
                <a:spcPts val="1500"/>
              </a:lnSpc>
              <a:buNone/>
            </a:pPr>
            <a:r>
              <a:rPr lang="en-US" sz="1200" dirty="0">
                <a:solidFill>
                  <a:srgbClr val="9AA6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 todas las ramas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8083296" y="1783080"/>
            <a:ext cx="3429000" cy="1828800"/>
          </a:xfrm>
          <a:prstGeom prst="roundRect">
            <a:avLst>
              <a:gd name="adj" fmla="val 4000"/>
            </a:avLst>
          </a:prstGeom>
          <a:solidFill>
            <a:srgbClr val="2E3744"/>
          </a:solidFill>
          <a:ln w="12700">
            <a:solidFill>
              <a:srgbClr val="2E3744"/>
            </a:solidFill>
            <a:prstDash val="solid"/>
          </a:ln>
          <a:effectLst>
            <a:outerShdw sx="100000" sy="100000" kx="0" ky="0" algn="bl" rotWithShape="0" blurRad="76200" dist="12700" dir="5400000">
              <a:srgbClr val="9AA6B5">
                <a:alpha val="22000"/>
              </a:srgbClr>
            </a:outerShdw>
          </a:effectLst>
        </p:spPr>
      </p:sp>
      <p:sp>
        <p:nvSpPr>
          <p:cNvPr id="14" name="Text 12"/>
          <p:cNvSpPr txBox="1"/>
          <p:nvPr/>
        </p:nvSpPr>
        <p:spPr>
          <a:xfrm>
            <a:off x="8357616" y="1965960"/>
            <a:ext cx="28803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6000" b="1" dirty="0">
                <a:solidFill>
                  <a:srgbClr val="27AE6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</a:t>
            </a:r>
            <a:endParaRPr lang="en-US" sz="6000" dirty="0"/>
          </a:p>
        </p:txBody>
      </p:sp>
      <p:sp>
        <p:nvSpPr>
          <p:cNvPr id="15" name="Text 13"/>
          <p:cNvSpPr txBox="1"/>
          <p:nvPr/>
        </p:nvSpPr>
        <p:spPr>
          <a:xfrm>
            <a:off x="8357616" y="2880360"/>
            <a:ext cx="2880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500"/>
              </a:lnSpc>
              <a:buNone/>
            </a:pPr>
            <a:r>
              <a:rPr lang="en-US" sz="1200" dirty="0">
                <a:solidFill>
                  <a:srgbClr val="9AA6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hallazgos SAST de</a:t>
            </a:r>
            <a:endParaRPr lang="en-US" sz="1200" dirty="0"/>
          </a:p>
          <a:p>
            <a:pPr indent="0" marL="0">
              <a:lnSpc>
                <a:spcPts val="1500"/>
              </a:lnSpc>
              <a:buNone/>
            </a:pPr>
            <a:r>
              <a:rPr lang="en-US" sz="1200" dirty="0">
                <a:solidFill>
                  <a:srgbClr val="9AA6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severidad alta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640080" y="3886200"/>
            <a:ext cx="10899648" cy="1600200"/>
          </a:xfrm>
          <a:prstGeom prst="roundRect">
            <a:avLst>
              <a:gd name="adj" fmla="val 4571"/>
            </a:avLst>
          </a:prstGeom>
          <a:solidFill>
            <a:srgbClr val="2E3744"/>
          </a:solidFill>
          <a:ln w="12700">
            <a:solidFill>
              <a:srgbClr val="2E3744"/>
            </a:solidFill>
            <a:prstDash val="solid"/>
          </a:ln>
          <a:effectLst>
            <a:outerShdw sx="100000" sy="100000" kx="0" ky="0" algn="bl" rotWithShape="0" blurRad="76200" dist="12700" dir="5400000">
              <a:srgbClr val="9AA6B5">
                <a:alpha val="22000"/>
              </a:srgbClr>
            </a:outerShdw>
          </a:effectLst>
        </p:spPr>
      </p:sp>
      <p:sp>
        <p:nvSpPr>
          <p:cNvPr id="17" name="Text 15"/>
          <p:cNvSpPr txBox="1"/>
          <p:nvPr/>
        </p:nvSpPr>
        <p:spPr>
          <a:xfrm>
            <a:off x="914400" y="4069080"/>
            <a:ext cx="10332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F2F5F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Lo que sí encontró la herramienta, y por qué se descartó</a:t>
            </a:r>
            <a:endParaRPr lang="en-US" sz="1500" dirty="0"/>
          </a:p>
        </p:txBody>
      </p:sp>
      <p:sp>
        <p:nvSpPr>
          <p:cNvPr id="18" name="Text 16"/>
          <p:cNvSpPr txBox="1"/>
          <p:nvPr/>
        </p:nvSpPr>
        <p:spPr>
          <a:xfrm>
            <a:off x="914400" y="4434840"/>
            <a:ext cx="103327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700"/>
              </a:lnSpc>
              <a:buNone/>
            </a:pPr>
            <a:r>
              <a:rPr lang="en-US" sz="1250" dirty="0">
                <a:solidFill>
                  <a:srgbClr val="9AA6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Los 3 positivos del árbol son checksums SHA-256 de binarios pinneados en el workflow de seguridad y un id de ejemplo en documentación. </a:t>
            </a:r>
            <a:pPr indent="0" marL="0">
              <a:lnSpc>
                <a:spcPts val="1700"/>
              </a:lnSpc>
              <a:buNone/>
            </a:pPr>
            <a:r>
              <a:rPr lang="en-US" sz="1250" b="1" dirty="0">
                <a:solidFill>
                  <a:srgbClr val="00B4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Fijar los binarios por checksum es buena práctica, no fuga.</a:t>
            </a:r>
            <a:endParaRPr lang="en-US" sz="12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EEF1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954512" y="5623560"/>
            <a:ext cx="2468880" cy="2468880"/>
          </a:xfrm>
          <a:prstGeom prst="ellipse">
            <a:avLst/>
          </a:prstGeom>
          <a:solidFill>
            <a:srgbClr val="00B4A6">
              <a:alpha val="22000"/>
            </a:srgbClr>
          </a:solidFill>
          <a:ln w="12700">
            <a:solidFill>
              <a:srgbClr val="00B4A6">
                <a:alpha val="52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0360152" y="5029200"/>
            <a:ext cx="3657600" cy="3657600"/>
          </a:xfrm>
          <a:prstGeom prst="ellipse">
            <a:avLst/>
          </a:prstGeom>
          <a:solidFill>
            <a:srgbClr val="00B4A6">
              <a:alpha val="14000"/>
            </a:srgbClr>
          </a:solidFill>
          <a:ln w="12700">
            <a:solidFill>
              <a:srgbClr val="00B4A6">
                <a:alpha val="44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9720072" y="4389120"/>
            <a:ext cx="4937760" cy="4937760"/>
          </a:xfrm>
          <a:prstGeom prst="ellipse">
            <a:avLst/>
          </a:prstGeom>
          <a:solidFill>
            <a:srgbClr val="00B4A6">
              <a:alpha val="8000"/>
            </a:srgbClr>
          </a:solidFill>
          <a:ln w="12700">
            <a:solidFill>
              <a:srgbClr val="00B4A6">
                <a:alpha val="38000"/>
              </a:srgbClr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40080" y="384048"/>
            <a:ext cx="10881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00B4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SEGURIDAD · 2 DE 2</a:t>
            </a:r>
            <a:endParaRPr lang="en-US" sz="1100" dirty="0"/>
          </a:p>
        </p:txBody>
      </p:sp>
      <p:sp>
        <p:nvSpPr>
          <p:cNvPr id="6" name="Text 4"/>
          <p:cNvSpPr txBox="1"/>
          <p:nvPr/>
        </p:nvSpPr>
        <p:spPr>
          <a:xfrm>
            <a:off x="640080" y="685800"/>
            <a:ext cx="108813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B202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Instalado está sano. Lo declarado, no.</a:t>
            </a:r>
            <a:endParaRPr lang="en-US" sz="3200" dirty="0"/>
          </a:p>
        </p:txBody>
      </p:sp>
      <p:sp>
        <p:nvSpPr>
          <p:cNvPr id="7" name="Shape 5"/>
          <p:cNvSpPr/>
          <p:nvPr/>
        </p:nvSpPr>
        <p:spPr>
          <a:xfrm>
            <a:off x="640080" y="1783080"/>
            <a:ext cx="5303520" cy="2880360"/>
          </a:xfrm>
          <a:prstGeom prst="roundRect">
            <a:avLst>
              <a:gd name="adj" fmla="val 2540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76200" dist="12700" dir="5400000">
              <a:srgbClr val="9AA6B5">
                <a:alpha val="22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914400" y="2011680"/>
            <a:ext cx="310896" cy="310896"/>
          </a:xfrm>
          <a:prstGeom prst="ellipse">
            <a:avLst/>
          </a:prstGeom>
          <a:solidFill>
            <a:srgbClr val="27AE60"/>
          </a:solidFill>
          <a:ln w="12700">
            <a:solidFill>
              <a:srgbClr val="27AE60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1325880" y="2011680"/>
            <a:ext cx="4206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1B202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Lo que está instalado</a:t>
            </a:r>
            <a:endParaRPr lang="en-US" sz="1600" dirty="0"/>
          </a:p>
        </p:txBody>
      </p:sp>
      <p:sp>
        <p:nvSpPr>
          <p:cNvPr id="10" name="Text 8"/>
          <p:cNvSpPr txBox="1"/>
          <p:nvPr/>
        </p:nvSpPr>
        <p:spPr>
          <a:xfrm>
            <a:off x="914400" y="2514600"/>
            <a:ext cx="475488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800"/>
              </a:lnSpc>
              <a:buNone/>
            </a:pPr>
            <a:r>
              <a:rPr lang="en-US" sz="1300" dirty="0">
                <a:solidFill>
                  <a:srgbClr val="5A64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89 de 90 paquetes del lockfile sin ningún aviso.</a:t>
            </a:r>
            <a:endParaRPr lang="en-US" sz="1300" dirty="0"/>
          </a:p>
          <a:p>
            <a:pPr indent="0" marL="0">
              <a:lnSpc>
                <a:spcPts val="1800"/>
              </a:lnSpc>
              <a:buNone/>
            </a:pPr>
            <a:endParaRPr lang="en-US" sz="1300" dirty="0"/>
          </a:p>
          <a:p>
            <a:pPr indent="0" marL="0">
              <a:lnSpc>
                <a:spcPts val="1800"/>
              </a:lnSpc>
              <a:buNone/>
            </a:pPr>
            <a:r>
              <a:rPr lang="en-US" sz="1300" dirty="0">
                <a:solidFill>
                  <a:srgbClr val="5A64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único afectado es pip 26.1.2 (CVE-2026-13346), dependencia de desarrollo que no viaja al usuario final.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6236208" y="1783080"/>
            <a:ext cx="5303520" cy="2880360"/>
          </a:xfrm>
          <a:prstGeom prst="roundRect">
            <a:avLst>
              <a:gd name="adj" fmla="val 2540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76200" dist="12700" dir="5400000">
              <a:srgbClr val="9AA6B5">
                <a:alpha val="22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6510528" y="2011680"/>
            <a:ext cx="310896" cy="310896"/>
          </a:xfrm>
          <a:prstGeom prst="ellipse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6922008" y="2011680"/>
            <a:ext cx="4480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1B202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Lo que el rango permite instalar</a:t>
            </a:r>
            <a:endParaRPr lang="en-US" sz="1600" dirty="0"/>
          </a:p>
        </p:txBody>
      </p:sp>
      <p:sp>
        <p:nvSpPr>
          <p:cNvPr id="14" name="Text 12"/>
          <p:cNvSpPr txBox="1"/>
          <p:nvPr/>
        </p:nvSpPr>
        <p:spPr>
          <a:xfrm>
            <a:off x="6510528" y="2514600"/>
            <a:ext cx="475488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800"/>
              </a:lnSpc>
              <a:buNone/>
            </a:pPr>
            <a:r>
              <a:rPr lang="en-US" sz="1300" dirty="0">
                <a:solidFill>
                  <a:srgbClr val="5A64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Pillow&gt;=10.0 admite versiones con 34 avisos conocidos.</a:t>
            </a:r>
            <a:endParaRPr lang="en-US" sz="1300" dirty="0"/>
          </a:p>
          <a:p>
            <a:pPr indent="0" marL="0">
              <a:lnSpc>
                <a:spcPts val="1800"/>
              </a:lnSpc>
              <a:buNone/>
            </a:pPr>
            <a:endParaRPr lang="en-US" sz="1300" dirty="0"/>
          </a:p>
          <a:p>
            <a:pPr indent="0" marL="0">
              <a:lnSpc>
                <a:spcPts val="1800"/>
              </a:lnSpc>
              <a:buNone/>
            </a:pPr>
            <a:r>
              <a:rPr lang="en-US" sz="1300" dirty="0">
                <a:solidFill>
                  <a:srgbClr val="5A64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lockfile resuelve 12.3.0, que tiene cero. Pero el lockfile no está versionado: lo que protege al desarrollador no protege al usuario.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640080" y="4846320"/>
            <a:ext cx="10899648" cy="960120"/>
          </a:xfrm>
          <a:prstGeom prst="roundRect">
            <a:avLst>
              <a:gd name="adj" fmla="val 7619"/>
            </a:avLst>
          </a:prstGeom>
          <a:solidFill>
            <a:srgbClr val="1B2028"/>
          </a:solidFill>
          <a:ln w="12700">
            <a:solidFill>
              <a:srgbClr val="1B2028"/>
            </a:solidFill>
            <a:prstDash val="solid"/>
          </a:ln>
          <a:effectLst>
            <a:outerShdw sx="100000" sy="100000" kx="0" ky="0" algn="bl" rotWithShape="0" blurRad="76200" dist="12700" dir="5400000">
              <a:srgbClr val="9AA6B5">
                <a:alpha val="22000"/>
              </a:srgbClr>
            </a:outerShdw>
          </a:effectLst>
        </p:spPr>
      </p:sp>
      <p:sp>
        <p:nvSpPr>
          <p:cNvPr id="16" name="Text 14"/>
          <p:cNvSpPr txBox="1"/>
          <p:nvPr/>
        </p:nvSpPr>
        <p:spPr>
          <a:xfrm>
            <a:off x="914400" y="5102352"/>
            <a:ext cx="10332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i="1" dirty="0">
                <a:solidFill>
                  <a:srgbClr val="F2F5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Son dos preguntas distintas. La auditoría respondió la primera; esta revisión hizo la segunda.</a:t>
            </a:r>
            <a:endParaRPr lang="en-US" sz="14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EEF1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954512" y="5623560"/>
            <a:ext cx="2468880" cy="2468880"/>
          </a:xfrm>
          <a:prstGeom prst="ellipse">
            <a:avLst/>
          </a:prstGeom>
          <a:solidFill>
            <a:srgbClr val="00B4A6">
              <a:alpha val="22000"/>
            </a:srgbClr>
          </a:solidFill>
          <a:ln w="12700">
            <a:solidFill>
              <a:srgbClr val="00B4A6">
                <a:alpha val="52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0360152" y="5029200"/>
            <a:ext cx="3657600" cy="3657600"/>
          </a:xfrm>
          <a:prstGeom prst="ellipse">
            <a:avLst/>
          </a:prstGeom>
          <a:solidFill>
            <a:srgbClr val="00B4A6">
              <a:alpha val="14000"/>
            </a:srgbClr>
          </a:solidFill>
          <a:ln w="12700">
            <a:solidFill>
              <a:srgbClr val="00B4A6">
                <a:alpha val="44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9720072" y="4389120"/>
            <a:ext cx="4937760" cy="4937760"/>
          </a:xfrm>
          <a:prstGeom prst="ellipse">
            <a:avLst/>
          </a:prstGeom>
          <a:solidFill>
            <a:srgbClr val="00B4A6">
              <a:alpha val="8000"/>
            </a:srgbClr>
          </a:solidFill>
          <a:ln w="12700">
            <a:solidFill>
              <a:srgbClr val="00B4A6">
                <a:alpha val="38000"/>
              </a:srgbClr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40080" y="384048"/>
            <a:ext cx="10881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00B4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HALLAZGO P-02</a:t>
            </a:r>
            <a:endParaRPr lang="en-US" sz="1100" dirty="0"/>
          </a:p>
        </p:txBody>
      </p:sp>
      <p:sp>
        <p:nvSpPr>
          <p:cNvPr id="6" name="Text 4"/>
          <p:cNvSpPr txBox="1"/>
          <p:nvPr/>
        </p:nvSpPr>
        <p:spPr>
          <a:xfrm>
            <a:off x="640080" y="685800"/>
            <a:ext cx="108813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B202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Avisos conocidos por versión de Pillow</a:t>
            </a:r>
            <a:endParaRPr lang="en-US" sz="3200" dirty="0"/>
          </a:p>
        </p:txBody>
      </p:sp>
      <p:graphicFrame>
        <p:nvGraphicFramePr>
          <p:cNvPr id="7" name="Chart 0" descr=""/>
          <p:cNvGraphicFramePr/>
          <p:nvPr/>
        </p:nvGraphicFramePr>
        <p:xfrm>
          <a:off x="640080" y="1737360"/>
          <a:ext cx="6949440" cy="356616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8" name="Shape 5"/>
          <p:cNvSpPr/>
          <p:nvPr/>
        </p:nvSpPr>
        <p:spPr>
          <a:xfrm>
            <a:off x="7863840" y="1737360"/>
            <a:ext cx="3675888" cy="3566160"/>
          </a:xfrm>
          <a:prstGeom prst="roundRect">
            <a:avLst>
              <a:gd name="adj" fmla="val 2051"/>
            </a:avLst>
          </a:prstGeom>
          <a:solidFill>
            <a:srgbClr val="2E3744"/>
          </a:solidFill>
          <a:ln w="12700">
            <a:solidFill>
              <a:srgbClr val="2E3744"/>
            </a:solidFill>
            <a:prstDash val="solid"/>
          </a:ln>
          <a:effectLst>
            <a:outerShdw sx="100000" sy="100000" kx="0" ky="0" algn="bl" rotWithShape="0" blurRad="76200" dist="12700" dir="5400000">
              <a:srgbClr val="9AA6B5">
                <a:alpha val="22000"/>
              </a:srgbClr>
            </a:outerShdw>
          </a:effectLst>
        </p:spPr>
      </p:sp>
      <p:sp>
        <p:nvSpPr>
          <p:cNvPr id="9" name="Text 6"/>
          <p:cNvSpPr txBox="1"/>
          <p:nvPr/>
        </p:nvSpPr>
        <p:spPr>
          <a:xfrm>
            <a:off x="8138160" y="1965960"/>
            <a:ext cx="31089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200" b="1" dirty="0">
                <a:solidFill>
                  <a:srgbClr val="00B4A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12.3.0</a:t>
            </a:r>
            <a:endParaRPr lang="en-US" sz="4200" dirty="0"/>
          </a:p>
        </p:txBody>
      </p:sp>
      <p:sp>
        <p:nvSpPr>
          <p:cNvPr id="10" name="Text 7"/>
          <p:cNvSpPr txBox="1"/>
          <p:nvPr/>
        </p:nvSpPr>
        <p:spPr>
          <a:xfrm>
            <a:off x="8138160" y="2697480"/>
            <a:ext cx="315468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700"/>
              </a:lnSpc>
              <a:buNone/>
            </a:pPr>
            <a:r>
              <a:rPr lang="en-US" sz="1250" dirty="0">
                <a:solidFill>
                  <a:srgbClr val="9AA6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 el primer release con cero avisos: el piso de seguridad real.</a:t>
            </a:r>
            <a:endParaRPr lang="en-US" sz="1250" dirty="0"/>
          </a:p>
          <a:p>
            <a:pPr indent="0" marL="0">
              <a:lnSpc>
                <a:spcPts val="1700"/>
              </a:lnSpc>
              <a:buNone/>
            </a:pPr>
            <a:endParaRPr lang="en-US" sz="1250" dirty="0"/>
          </a:p>
          <a:p>
            <a:pPr indent="0" marL="0">
              <a:lnSpc>
                <a:spcPts val="1700"/>
              </a:lnSpc>
              <a:buNone/>
            </a:pPr>
            <a:r>
              <a:rPr lang="en-US" sz="1250" dirty="0">
                <a:solidFill>
                  <a:srgbClr val="9AA6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rango declarado empieza en 10.0, veintitantos releases por debajo.</a:t>
            </a:r>
            <a:endParaRPr lang="en-US" sz="1250" dirty="0"/>
          </a:p>
        </p:txBody>
      </p:sp>
      <p:sp>
        <p:nvSpPr>
          <p:cNvPr id="11" name="Text 8"/>
          <p:cNvSpPr txBox="1"/>
          <p:nvPr/>
        </p:nvSpPr>
        <p:spPr>
          <a:xfrm>
            <a:off x="8138160" y="4434840"/>
            <a:ext cx="3154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F2F5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Acción:  Pillow&gt;=12.3.0,&lt;13</a:t>
            </a:r>
            <a:endParaRPr lang="en-US" sz="1300" dirty="0"/>
          </a:p>
        </p:txBody>
      </p:sp>
      <p:sp>
        <p:nvSpPr>
          <p:cNvPr id="12" name="Text 9"/>
          <p:cNvSpPr txBox="1"/>
          <p:nvPr/>
        </p:nvSpPr>
        <p:spPr>
          <a:xfrm>
            <a:off x="640080" y="5440680"/>
            <a:ext cx="10881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i="1" dirty="0">
                <a:solidFill>
                  <a:srgbClr val="5A64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Fuente: feed de avisos de PyPI, la misma que usa pip-audit -s pypi. No reporta severidad — por eso se cuentan avisos, no CVSS.</a:t>
            </a:r>
            <a:endParaRPr lang="en-US" sz="11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1B20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954512" y="5623560"/>
            <a:ext cx="2468880" cy="2468880"/>
          </a:xfrm>
          <a:prstGeom prst="ellipse">
            <a:avLst/>
          </a:prstGeom>
          <a:solidFill>
            <a:srgbClr val="00B4A6">
              <a:alpha val="22000"/>
            </a:srgbClr>
          </a:solidFill>
          <a:ln w="12700">
            <a:solidFill>
              <a:srgbClr val="00B4A6">
                <a:alpha val="52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0360152" y="5029200"/>
            <a:ext cx="3657600" cy="3657600"/>
          </a:xfrm>
          <a:prstGeom prst="ellipse">
            <a:avLst/>
          </a:prstGeom>
          <a:solidFill>
            <a:srgbClr val="00B4A6">
              <a:alpha val="14000"/>
            </a:srgbClr>
          </a:solidFill>
          <a:ln w="12700">
            <a:solidFill>
              <a:srgbClr val="00B4A6">
                <a:alpha val="44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9720072" y="4389120"/>
            <a:ext cx="4937760" cy="4937760"/>
          </a:xfrm>
          <a:prstGeom prst="ellipse">
            <a:avLst/>
          </a:prstGeom>
          <a:solidFill>
            <a:srgbClr val="00B4A6">
              <a:alpha val="8000"/>
            </a:srgbClr>
          </a:solidFill>
          <a:ln w="12700">
            <a:solidFill>
              <a:srgbClr val="00B4A6">
                <a:alpha val="38000"/>
              </a:srgbClr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40080" y="384048"/>
            <a:ext cx="10881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00B4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RUNTIME</a:t>
            </a:r>
            <a:endParaRPr lang="en-US" sz="1100" dirty="0"/>
          </a:p>
        </p:txBody>
      </p:sp>
      <p:sp>
        <p:nvSpPr>
          <p:cNvPr id="6" name="Text 4"/>
          <p:cNvSpPr txBox="1"/>
          <p:nvPr/>
        </p:nvSpPr>
        <p:spPr>
          <a:xfrm>
            <a:off x="640080" y="685800"/>
            <a:ext cx="108813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2F5F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El piso del proyecto ya no recibe correcciones</a:t>
            </a:r>
            <a:endParaRPr lang="en-US" sz="3200" dirty="0"/>
          </a:p>
        </p:txBody>
      </p:sp>
      <p:sp>
        <p:nvSpPr>
          <p:cNvPr id="7" name="Shape 5"/>
          <p:cNvSpPr/>
          <p:nvPr/>
        </p:nvSpPr>
        <p:spPr>
          <a:xfrm>
            <a:off x="640080" y="1783080"/>
            <a:ext cx="7589520" cy="749808"/>
          </a:xfrm>
          <a:prstGeom prst="roundRect">
            <a:avLst>
              <a:gd name="adj" fmla="val 9756"/>
            </a:avLst>
          </a:prstGeom>
          <a:solidFill>
            <a:srgbClr val="2E3744"/>
          </a:solidFill>
          <a:ln w="12700">
            <a:solidFill>
              <a:srgbClr val="2E3744"/>
            </a:solidFill>
            <a:prstDash val="solid"/>
          </a:ln>
          <a:effectLst>
            <a:outerShdw sx="100000" sy="100000" kx="0" ky="0" algn="bl" rotWithShape="0" blurRad="76200" dist="12700" dir="5400000">
              <a:srgbClr val="9AA6B5">
                <a:alpha val="22000"/>
              </a:srgbClr>
            </a:outerShdw>
          </a:effectLst>
        </p:spPr>
      </p:sp>
      <p:sp>
        <p:nvSpPr>
          <p:cNvPr id="8" name="Text 6"/>
          <p:cNvSpPr txBox="1"/>
          <p:nvPr/>
        </p:nvSpPr>
        <p:spPr>
          <a:xfrm>
            <a:off x="914400" y="1965960"/>
            <a:ext cx="17373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F2F5F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Python 3.11</a:t>
            </a:r>
            <a:endParaRPr lang="en-US" sz="1700" dirty="0"/>
          </a:p>
        </p:txBody>
      </p:sp>
      <p:sp>
        <p:nvSpPr>
          <p:cNvPr id="9" name="Shape 7"/>
          <p:cNvSpPr/>
          <p:nvPr/>
        </p:nvSpPr>
        <p:spPr>
          <a:xfrm>
            <a:off x="2743200" y="1984248"/>
            <a:ext cx="1600200" cy="347472"/>
          </a:xfrm>
          <a:prstGeom prst="roundRect">
            <a:avLst>
              <a:gd name="adj" fmla="val 15789"/>
            </a:avLst>
          </a:prstGeom>
          <a:solidFill>
            <a:srgbClr val="E8A33D"/>
          </a:solidFill>
          <a:ln w="12700">
            <a:solidFill>
              <a:srgbClr val="E8A33D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2743200" y="2048256"/>
            <a:ext cx="1600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security-only</a:t>
            </a:r>
            <a:endParaRPr lang="en-US" sz="1100" dirty="0"/>
          </a:p>
        </p:txBody>
      </p:sp>
      <p:sp>
        <p:nvSpPr>
          <p:cNvPr id="11" name="Text 9"/>
          <p:cNvSpPr txBox="1"/>
          <p:nvPr/>
        </p:nvSpPr>
        <p:spPr>
          <a:xfrm>
            <a:off x="4572000" y="2029968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9AA6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piso actual del proyecto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640080" y="2679192"/>
            <a:ext cx="7589520" cy="749808"/>
          </a:xfrm>
          <a:prstGeom prst="roundRect">
            <a:avLst>
              <a:gd name="adj" fmla="val 9756"/>
            </a:avLst>
          </a:prstGeom>
          <a:solidFill>
            <a:srgbClr val="2E3744"/>
          </a:solidFill>
          <a:ln w="12700">
            <a:solidFill>
              <a:srgbClr val="2E3744"/>
            </a:solidFill>
            <a:prstDash val="solid"/>
          </a:ln>
          <a:effectLst>
            <a:outerShdw sx="100000" sy="100000" kx="0" ky="0" algn="bl" rotWithShape="0" blurRad="76200" dist="12700" dir="5400000">
              <a:srgbClr val="9AA6B5">
                <a:alpha val="22000"/>
              </a:srgbClr>
            </a:outerShdw>
          </a:effectLst>
        </p:spPr>
      </p:sp>
      <p:sp>
        <p:nvSpPr>
          <p:cNvPr id="13" name="Text 11"/>
          <p:cNvSpPr txBox="1"/>
          <p:nvPr/>
        </p:nvSpPr>
        <p:spPr>
          <a:xfrm>
            <a:off x="914400" y="2862072"/>
            <a:ext cx="17373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F2F5F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Python 3.12</a:t>
            </a:r>
            <a:endParaRPr lang="en-US" sz="1700" dirty="0"/>
          </a:p>
        </p:txBody>
      </p:sp>
      <p:sp>
        <p:nvSpPr>
          <p:cNvPr id="14" name="Shape 12"/>
          <p:cNvSpPr/>
          <p:nvPr/>
        </p:nvSpPr>
        <p:spPr>
          <a:xfrm>
            <a:off x="2743200" y="2880360"/>
            <a:ext cx="1600200" cy="347472"/>
          </a:xfrm>
          <a:prstGeom prst="roundRect">
            <a:avLst>
              <a:gd name="adj" fmla="val 15789"/>
            </a:avLst>
          </a:prstGeom>
          <a:solidFill>
            <a:srgbClr val="E8A33D"/>
          </a:solidFill>
          <a:ln w="12700">
            <a:solidFill>
              <a:srgbClr val="E8A33D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2743200" y="2944368"/>
            <a:ext cx="1600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security-only</a:t>
            </a:r>
            <a:endParaRPr lang="en-US" sz="1100" dirty="0"/>
          </a:p>
        </p:txBody>
      </p:sp>
      <p:sp>
        <p:nvSpPr>
          <p:cNvPr id="16" name="Text 14"/>
          <p:cNvSpPr txBox="1"/>
          <p:nvPr/>
        </p:nvSpPr>
        <p:spPr>
          <a:xfrm>
            <a:off x="4572000" y="2926080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9AA6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piso propuesto para la v2</a:t>
            </a:r>
            <a:endParaRPr lang="en-US" sz="1250" dirty="0"/>
          </a:p>
        </p:txBody>
      </p:sp>
      <p:sp>
        <p:nvSpPr>
          <p:cNvPr id="17" name="Shape 15"/>
          <p:cNvSpPr/>
          <p:nvPr/>
        </p:nvSpPr>
        <p:spPr>
          <a:xfrm>
            <a:off x="640080" y="3575304"/>
            <a:ext cx="7589520" cy="749808"/>
          </a:xfrm>
          <a:prstGeom prst="roundRect">
            <a:avLst>
              <a:gd name="adj" fmla="val 9756"/>
            </a:avLst>
          </a:prstGeom>
          <a:solidFill>
            <a:srgbClr val="2E3744"/>
          </a:solidFill>
          <a:ln w="12700">
            <a:solidFill>
              <a:srgbClr val="2E3744"/>
            </a:solidFill>
            <a:prstDash val="solid"/>
          </a:ln>
          <a:effectLst>
            <a:outerShdw sx="100000" sy="100000" kx="0" ky="0" algn="bl" rotWithShape="0" blurRad="76200" dist="12700" dir="5400000">
              <a:srgbClr val="9AA6B5">
                <a:alpha val="22000"/>
              </a:srgbClr>
            </a:outerShdw>
          </a:effectLst>
        </p:spPr>
      </p:sp>
      <p:sp>
        <p:nvSpPr>
          <p:cNvPr id="18" name="Text 16"/>
          <p:cNvSpPr txBox="1"/>
          <p:nvPr/>
        </p:nvSpPr>
        <p:spPr>
          <a:xfrm>
            <a:off x="914400" y="3758184"/>
            <a:ext cx="17373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F2F5F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Python 3.13</a:t>
            </a:r>
            <a:endParaRPr lang="en-US" sz="1700" dirty="0"/>
          </a:p>
        </p:txBody>
      </p:sp>
      <p:sp>
        <p:nvSpPr>
          <p:cNvPr id="19" name="Shape 17"/>
          <p:cNvSpPr/>
          <p:nvPr/>
        </p:nvSpPr>
        <p:spPr>
          <a:xfrm>
            <a:off x="2743200" y="3776472"/>
            <a:ext cx="1600200" cy="347472"/>
          </a:xfrm>
          <a:prstGeom prst="roundRect">
            <a:avLst>
              <a:gd name="adj" fmla="val 15789"/>
            </a:avLst>
          </a:prstGeom>
          <a:solidFill>
            <a:srgbClr val="27AE60"/>
          </a:solidFill>
          <a:ln w="12700">
            <a:solidFill>
              <a:srgbClr val="27AE60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2743200" y="3840480"/>
            <a:ext cx="1600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bugfix</a:t>
            </a:r>
            <a:endParaRPr lang="en-US" sz="1100" dirty="0"/>
          </a:p>
        </p:txBody>
      </p:sp>
      <p:sp>
        <p:nvSpPr>
          <p:cNvPr id="21" name="Text 19"/>
          <p:cNvSpPr txBox="1"/>
          <p:nvPr/>
        </p:nvSpPr>
        <p:spPr>
          <a:xfrm>
            <a:off x="4572000" y="3822192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9AA6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piso recomendado · soporte a 2029</a:t>
            </a:r>
            <a:endParaRPr lang="en-US" sz="1250" dirty="0"/>
          </a:p>
        </p:txBody>
      </p:sp>
      <p:sp>
        <p:nvSpPr>
          <p:cNvPr id="22" name="Shape 20"/>
          <p:cNvSpPr/>
          <p:nvPr/>
        </p:nvSpPr>
        <p:spPr>
          <a:xfrm>
            <a:off x="640080" y="4471416"/>
            <a:ext cx="7589520" cy="749808"/>
          </a:xfrm>
          <a:prstGeom prst="roundRect">
            <a:avLst>
              <a:gd name="adj" fmla="val 9756"/>
            </a:avLst>
          </a:prstGeom>
          <a:solidFill>
            <a:srgbClr val="2E3744"/>
          </a:solidFill>
          <a:ln w="12700">
            <a:solidFill>
              <a:srgbClr val="2E3744"/>
            </a:solidFill>
            <a:prstDash val="solid"/>
          </a:ln>
          <a:effectLst>
            <a:outerShdw sx="100000" sy="100000" kx="0" ky="0" algn="bl" rotWithShape="0" blurRad="76200" dist="12700" dir="5400000">
              <a:srgbClr val="9AA6B5">
                <a:alpha val="22000"/>
              </a:srgbClr>
            </a:outerShdw>
          </a:effectLst>
        </p:spPr>
      </p:sp>
      <p:sp>
        <p:nvSpPr>
          <p:cNvPr id="23" name="Text 21"/>
          <p:cNvSpPr txBox="1"/>
          <p:nvPr/>
        </p:nvSpPr>
        <p:spPr>
          <a:xfrm>
            <a:off x="914400" y="4654296"/>
            <a:ext cx="17373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F2F5F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Python 3.14</a:t>
            </a:r>
            <a:endParaRPr lang="en-US" sz="1700" dirty="0"/>
          </a:p>
        </p:txBody>
      </p:sp>
      <p:sp>
        <p:nvSpPr>
          <p:cNvPr id="24" name="Shape 22"/>
          <p:cNvSpPr/>
          <p:nvPr/>
        </p:nvSpPr>
        <p:spPr>
          <a:xfrm>
            <a:off x="2743200" y="4672584"/>
            <a:ext cx="1600200" cy="347472"/>
          </a:xfrm>
          <a:prstGeom prst="roundRect">
            <a:avLst>
              <a:gd name="adj" fmla="val 15789"/>
            </a:avLst>
          </a:prstGeom>
          <a:solidFill>
            <a:srgbClr val="27AE60"/>
          </a:solidFill>
          <a:ln w="12700">
            <a:solidFill>
              <a:srgbClr val="27AE60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2743200" y="4736592"/>
            <a:ext cx="1600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bugfix</a:t>
            </a:r>
            <a:endParaRPr lang="en-US" sz="1100" dirty="0"/>
          </a:p>
        </p:txBody>
      </p:sp>
      <p:sp>
        <p:nvSpPr>
          <p:cNvPr id="26" name="Text 24"/>
          <p:cNvSpPr txBox="1"/>
          <p:nvPr/>
        </p:nvSpPr>
        <p:spPr>
          <a:xfrm>
            <a:off x="4572000" y="4718304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9AA6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alternativa · soporte a 2030</a:t>
            </a:r>
            <a:endParaRPr lang="en-US" sz="1250" dirty="0"/>
          </a:p>
        </p:txBody>
      </p:sp>
      <p:sp>
        <p:nvSpPr>
          <p:cNvPr id="27" name="Shape 25"/>
          <p:cNvSpPr/>
          <p:nvPr/>
        </p:nvSpPr>
        <p:spPr>
          <a:xfrm>
            <a:off x="8503920" y="1783080"/>
            <a:ext cx="3035808" cy="3520440"/>
          </a:xfrm>
          <a:prstGeom prst="roundRect">
            <a:avLst>
              <a:gd name="adj" fmla="val 2410"/>
            </a:avLst>
          </a:prstGeom>
          <a:solidFill>
            <a:srgbClr val="2E3744"/>
          </a:solidFill>
          <a:ln w="12700">
            <a:solidFill>
              <a:srgbClr val="2E3744"/>
            </a:solidFill>
            <a:prstDash val="solid"/>
          </a:ln>
          <a:effectLst>
            <a:outerShdw sx="100000" sy="100000" kx="0" ky="0" algn="bl" rotWithShape="0" blurRad="76200" dist="12700" dir="5400000">
              <a:srgbClr val="9AA6B5">
                <a:alpha val="22000"/>
              </a:srgbClr>
            </a:outerShdw>
          </a:effectLst>
        </p:spPr>
      </p:sp>
      <p:sp>
        <p:nvSpPr>
          <p:cNvPr id="28" name="Text 26"/>
          <p:cNvSpPr txBox="1"/>
          <p:nvPr/>
        </p:nvSpPr>
        <p:spPr>
          <a:xfrm>
            <a:off x="8778240" y="2011680"/>
            <a:ext cx="25603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000"/>
              </a:lnSpc>
              <a:buNone/>
            </a:pPr>
            <a:r>
              <a:rPr lang="en-US" sz="1600" b="1" dirty="0">
                <a:solidFill>
                  <a:srgbClr val="E8A3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Inconsistencia</a:t>
            </a:r>
            <a:endParaRPr lang="en-US" sz="1600" dirty="0"/>
          </a:p>
          <a:p>
            <a:pPr indent="0" marL="0">
              <a:lnSpc>
                <a:spcPts val="2000"/>
              </a:lnSpc>
              <a:buNone/>
            </a:pPr>
            <a:r>
              <a:rPr lang="en-US" sz="1600" b="1" dirty="0">
                <a:solidFill>
                  <a:srgbClr val="E8A3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detectada</a:t>
            </a:r>
            <a:endParaRPr lang="en-US" sz="1600" dirty="0"/>
          </a:p>
        </p:txBody>
      </p:sp>
      <p:sp>
        <p:nvSpPr>
          <p:cNvPr id="29" name="Text 27"/>
          <p:cNvSpPr txBox="1"/>
          <p:nvPr/>
        </p:nvSpPr>
        <p:spPr>
          <a:xfrm>
            <a:off x="8778240" y="2788920"/>
            <a:ext cx="251460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00"/>
              </a:lnSpc>
              <a:buNone/>
            </a:pPr>
            <a:r>
              <a:rPr lang="en-US" sz="1150" dirty="0">
                <a:solidFill>
                  <a:srgbClr val="9AA6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constitución que se generó en el paso anterior fija Python ≥ 3.12.</a:t>
            </a:r>
            <a:endParaRPr lang="en-US" sz="1150" dirty="0"/>
          </a:p>
          <a:p>
            <a:pPr indent="0" marL="0">
              <a:lnSpc>
                <a:spcPts val="1600"/>
              </a:lnSpc>
              <a:buNone/>
            </a:pPr>
            <a:endParaRPr lang="en-US" sz="1150" dirty="0"/>
          </a:p>
          <a:p>
            <a:pPr indent="0" marL="0">
              <a:lnSpc>
                <a:spcPts val="1600"/>
              </a:lnSpc>
              <a:buNone/>
            </a:pPr>
            <a:r>
              <a:rPr lang="en-US" sz="1150" dirty="0">
                <a:solidFill>
                  <a:srgbClr val="9AA6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Ese destino también está en security-only. Se anotó en vez de editarla: cambiarla exige enmienda con changelog.</a:t>
            </a:r>
            <a:endParaRPr lang="en-US" sz="11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EEF1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954512" y="5623560"/>
            <a:ext cx="2468880" cy="2468880"/>
          </a:xfrm>
          <a:prstGeom prst="ellipse">
            <a:avLst/>
          </a:prstGeom>
          <a:solidFill>
            <a:srgbClr val="00B4A6">
              <a:alpha val="22000"/>
            </a:srgbClr>
          </a:solidFill>
          <a:ln w="12700">
            <a:solidFill>
              <a:srgbClr val="00B4A6">
                <a:alpha val="52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0360152" y="5029200"/>
            <a:ext cx="3657600" cy="3657600"/>
          </a:xfrm>
          <a:prstGeom prst="ellipse">
            <a:avLst/>
          </a:prstGeom>
          <a:solidFill>
            <a:srgbClr val="00B4A6">
              <a:alpha val="14000"/>
            </a:srgbClr>
          </a:solidFill>
          <a:ln w="12700">
            <a:solidFill>
              <a:srgbClr val="00B4A6">
                <a:alpha val="44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9720072" y="4389120"/>
            <a:ext cx="4937760" cy="4937760"/>
          </a:xfrm>
          <a:prstGeom prst="ellipse">
            <a:avLst/>
          </a:prstGeom>
          <a:solidFill>
            <a:srgbClr val="00B4A6">
              <a:alpha val="8000"/>
            </a:srgbClr>
          </a:solidFill>
          <a:ln w="12700">
            <a:solidFill>
              <a:srgbClr val="00B4A6">
                <a:alpha val="38000"/>
              </a:srgbClr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40080" y="384048"/>
            <a:ext cx="10881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00B4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CONTENEDORES</a:t>
            </a:r>
            <a:endParaRPr lang="en-US" sz="1100" dirty="0"/>
          </a:p>
        </p:txBody>
      </p:sp>
      <p:sp>
        <p:nvSpPr>
          <p:cNvPr id="6" name="Text 4"/>
          <p:cNvSpPr txBox="1"/>
          <p:nvPr/>
        </p:nvSpPr>
        <p:spPr>
          <a:xfrm>
            <a:off x="640080" y="685800"/>
            <a:ext cx="108813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B202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El producto no. La fábrica sí.</a:t>
            </a:r>
            <a:endParaRPr lang="en-US" sz="3200" dirty="0"/>
          </a:p>
        </p:txBody>
      </p:sp>
      <p:sp>
        <p:nvSpPr>
          <p:cNvPr id="7" name="Shape 5"/>
          <p:cNvSpPr/>
          <p:nvPr/>
        </p:nvSpPr>
        <p:spPr>
          <a:xfrm>
            <a:off x="640080" y="1783080"/>
            <a:ext cx="5303520" cy="3200400"/>
          </a:xfrm>
          <a:prstGeom prst="roundRect">
            <a:avLst>
              <a:gd name="adj" fmla="val 2286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76200" dist="12700" dir="5400000">
              <a:srgbClr val="9AA6B5">
                <a:alpha val="22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914400" y="2011680"/>
            <a:ext cx="310896" cy="310896"/>
          </a:xfrm>
          <a:prstGeom prst="ellipse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1325880" y="2011680"/>
            <a:ext cx="4389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1B202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No se contenariza el producto</a:t>
            </a:r>
            <a:endParaRPr lang="en-US" sz="1600" dirty="0"/>
          </a:p>
        </p:txBody>
      </p:sp>
      <p:sp>
        <p:nvSpPr>
          <p:cNvPr id="10" name="Text 8"/>
          <p:cNvSpPr txBox="1"/>
          <p:nvPr/>
        </p:nvSpPr>
        <p:spPr>
          <a:xfrm>
            <a:off x="914400" y="2514600"/>
            <a:ext cx="4754880" cy="2240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700"/>
              </a:lnSpc>
              <a:buNone/>
            </a:pPr>
            <a:r>
              <a:rPr lang="en-US" sz="1250" dirty="0">
                <a:solidFill>
                  <a:srgbClr val="5A64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Necesita la sesión gráfica, el audio y el bus del usuario. Exponerlos desmonta el aislamiento que justifica el contenedor, para lograr algo que el paquete nativo ya hace mejor.</a:t>
            </a:r>
            <a:endParaRPr lang="en-US" sz="1250" dirty="0"/>
          </a:p>
          <a:p>
            <a:pPr indent="0" marL="0">
              <a:lnSpc>
                <a:spcPts val="1700"/>
              </a:lnSpc>
              <a:buNone/>
            </a:pPr>
            <a:endParaRPr lang="en-US" sz="1250" dirty="0"/>
          </a:p>
          <a:p>
            <a:pPr indent="0" marL="0">
              <a:lnSpc>
                <a:spcPts val="1700"/>
              </a:lnSpc>
              <a:buNone/>
            </a:pPr>
            <a:r>
              <a:rPr lang="en-US" sz="1250" dirty="0">
                <a:solidFill>
                  <a:srgbClr val="5A64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repositorio tiene 0 Dockerfiles, y es correcto.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6236208" y="1783080"/>
            <a:ext cx="5303520" cy="3200400"/>
          </a:xfrm>
          <a:prstGeom prst="roundRect">
            <a:avLst>
              <a:gd name="adj" fmla="val 2286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76200" dist="12700" dir="5400000">
              <a:srgbClr val="9AA6B5">
                <a:alpha val="22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6510528" y="2011680"/>
            <a:ext cx="310896" cy="310896"/>
          </a:xfrm>
          <a:prstGeom prst="ellipse">
            <a:avLst/>
          </a:prstGeom>
          <a:solidFill>
            <a:srgbClr val="27AE60"/>
          </a:solidFill>
          <a:ln w="12700">
            <a:solidFill>
              <a:srgbClr val="27AE60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6922008" y="2011680"/>
            <a:ext cx="4480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1B202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Sí se contenariza el build de Linux</a:t>
            </a:r>
            <a:endParaRPr lang="en-US" sz="1600" dirty="0"/>
          </a:p>
        </p:txBody>
      </p:sp>
      <p:sp>
        <p:nvSpPr>
          <p:cNvPr id="14" name="Text 12"/>
          <p:cNvSpPr txBox="1"/>
          <p:nvPr/>
        </p:nvSpPr>
        <p:spPr>
          <a:xfrm>
            <a:off x="6510528" y="2514600"/>
            <a:ext cx="4754880" cy="2240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700"/>
              </a:lnSpc>
              <a:buNone/>
            </a:pPr>
            <a:r>
              <a:rPr lang="en-US" sz="1250" dirty="0">
                <a:solidFill>
                  <a:srgbClr val="5A64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binario de PyInstaller enlaza contra la glibc de la máquina que lo construye, y hoy se construye en ubuntu-latest.</a:t>
            </a:r>
            <a:endParaRPr lang="en-US" sz="1250" dirty="0"/>
          </a:p>
          <a:p>
            <a:pPr indent="0" marL="0">
              <a:lnSpc>
                <a:spcPts val="1700"/>
              </a:lnSpc>
              <a:buNone/>
            </a:pPr>
            <a:endParaRPr lang="en-US" sz="1250" dirty="0"/>
          </a:p>
          <a:p>
            <a:pPr indent="0" marL="0">
              <a:lnSpc>
                <a:spcPts val="1700"/>
              </a:lnSpc>
              <a:buNone/>
            </a:pPr>
            <a:r>
              <a:rPr lang="en-US" sz="1250" dirty="0">
                <a:solidFill>
                  <a:srgbClr val="5A64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Cuando GitHub mueve qué es "latest", el binario eleva su glibc mínima en silencio y deja de arrancar en distros más antiguas.</a:t>
            </a:r>
            <a:endParaRPr lang="en-US" sz="1250" dirty="0"/>
          </a:p>
        </p:txBody>
      </p:sp>
      <p:sp>
        <p:nvSpPr>
          <p:cNvPr id="15" name="Shape 13"/>
          <p:cNvSpPr/>
          <p:nvPr/>
        </p:nvSpPr>
        <p:spPr>
          <a:xfrm>
            <a:off x="640080" y="5166360"/>
            <a:ext cx="10899648" cy="868680"/>
          </a:xfrm>
          <a:prstGeom prst="roundRect">
            <a:avLst>
              <a:gd name="adj" fmla="val 8421"/>
            </a:avLst>
          </a:prstGeom>
          <a:solidFill>
            <a:srgbClr val="1B2028"/>
          </a:solidFill>
          <a:ln w="12700">
            <a:solidFill>
              <a:srgbClr val="1B2028"/>
            </a:solidFill>
            <a:prstDash val="solid"/>
          </a:ln>
          <a:effectLst>
            <a:outerShdw sx="100000" sy="100000" kx="0" ky="0" algn="bl" rotWithShape="0" blurRad="76200" dist="12700" dir="5400000">
              <a:srgbClr val="9AA6B5">
                <a:alpha val="22000"/>
              </a:srgbClr>
            </a:outerShdw>
          </a:effectLst>
        </p:spPr>
      </p:sp>
      <p:sp>
        <p:nvSpPr>
          <p:cNvPr id="16" name="Text 14"/>
          <p:cNvSpPr txBox="1"/>
          <p:nvPr/>
        </p:nvSpPr>
        <p:spPr>
          <a:xfrm>
            <a:off x="914400" y="5394960"/>
            <a:ext cx="10332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i="1" dirty="0">
                <a:solidFill>
                  <a:srgbClr val="F2F5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Fijar la imagen base convierte la glibc mínima en una decisión declarada, no en un efecto colateral del runner.</a:t>
            </a:r>
            <a:endParaRPr lang="en-US" sz="13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EEF1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954512" y="5623560"/>
            <a:ext cx="2468880" cy="2468880"/>
          </a:xfrm>
          <a:prstGeom prst="ellipse">
            <a:avLst/>
          </a:prstGeom>
          <a:solidFill>
            <a:srgbClr val="00B4A6">
              <a:alpha val="22000"/>
            </a:srgbClr>
          </a:solidFill>
          <a:ln w="12700">
            <a:solidFill>
              <a:srgbClr val="00B4A6">
                <a:alpha val="52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0360152" y="5029200"/>
            <a:ext cx="3657600" cy="3657600"/>
          </a:xfrm>
          <a:prstGeom prst="ellipse">
            <a:avLst/>
          </a:prstGeom>
          <a:solidFill>
            <a:srgbClr val="00B4A6">
              <a:alpha val="14000"/>
            </a:srgbClr>
          </a:solidFill>
          <a:ln w="12700">
            <a:solidFill>
              <a:srgbClr val="00B4A6">
                <a:alpha val="44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9720072" y="4389120"/>
            <a:ext cx="4937760" cy="4937760"/>
          </a:xfrm>
          <a:prstGeom prst="ellipse">
            <a:avLst/>
          </a:prstGeom>
          <a:solidFill>
            <a:srgbClr val="00B4A6">
              <a:alpha val="8000"/>
            </a:srgbClr>
          </a:solidFill>
          <a:ln w="12700">
            <a:solidFill>
              <a:srgbClr val="00B4A6">
                <a:alpha val="38000"/>
              </a:srgbClr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40080" y="384048"/>
            <a:ext cx="10881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00B4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CALIDAD DE CÓDIGO</a:t>
            </a:r>
            <a:endParaRPr lang="en-US" sz="1100" dirty="0"/>
          </a:p>
        </p:txBody>
      </p:sp>
      <p:sp>
        <p:nvSpPr>
          <p:cNvPr id="6" name="Text 4"/>
          <p:cNvSpPr txBox="1"/>
          <p:nvPr/>
        </p:nvSpPr>
        <p:spPr>
          <a:xfrm>
            <a:off x="640080" y="685800"/>
            <a:ext cx="108813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B202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Los cinco P2 son de gate, no de código</a:t>
            </a:r>
            <a:endParaRPr lang="en-US" sz="3200" dirty="0"/>
          </a:p>
        </p:txBody>
      </p:sp>
      <p:sp>
        <p:nvSpPr>
          <p:cNvPr id="7" name="Shape 5"/>
          <p:cNvSpPr/>
          <p:nvPr/>
        </p:nvSpPr>
        <p:spPr>
          <a:xfrm>
            <a:off x="640080" y="1691640"/>
            <a:ext cx="10899648" cy="73152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76200" dist="12700" dir="5400000">
              <a:srgbClr val="9AA6B5">
                <a:alpha val="22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868680" y="1874520"/>
            <a:ext cx="365760" cy="365760"/>
          </a:xfrm>
          <a:prstGeom prst="ellipse">
            <a:avLst/>
          </a:prstGeom>
          <a:solidFill>
            <a:srgbClr val="E8A33D"/>
          </a:solidFill>
          <a:ln w="12700">
            <a:solidFill>
              <a:srgbClr val="E8A33D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868680" y="1947672"/>
            <a:ext cx="3657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300" dirty="0"/>
          </a:p>
        </p:txBody>
      </p:sp>
      <p:sp>
        <p:nvSpPr>
          <p:cNvPr id="10" name="Text 8"/>
          <p:cNvSpPr txBox="1"/>
          <p:nvPr/>
        </p:nvSpPr>
        <p:spPr>
          <a:xfrm>
            <a:off x="1417320" y="1810512"/>
            <a:ext cx="5120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1B202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La cobertura se mide pero no se exige</a:t>
            </a:r>
            <a:endParaRPr lang="en-US" sz="1350" dirty="0"/>
          </a:p>
        </p:txBody>
      </p:sp>
      <p:sp>
        <p:nvSpPr>
          <p:cNvPr id="11" name="Text 9"/>
          <p:cNvSpPr txBox="1"/>
          <p:nvPr/>
        </p:nvSpPr>
        <p:spPr>
          <a:xfrm>
            <a:off x="1417320" y="2093976"/>
            <a:ext cx="9875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5A64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CI genera coverage.xml; no existe --cov-fail-under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640080" y="2542032"/>
            <a:ext cx="10899648" cy="73152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76200" dist="12700" dir="5400000">
              <a:srgbClr val="9AA6B5">
                <a:alpha val="22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868680" y="2724912"/>
            <a:ext cx="365760" cy="365760"/>
          </a:xfrm>
          <a:prstGeom prst="ellipse">
            <a:avLst/>
          </a:prstGeom>
          <a:solidFill>
            <a:srgbClr val="E8A33D"/>
          </a:solidFill>
          <a:ln w="12700">
            <a:solidFill>
              <a:srgbClr val="E8A33D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868680" y="2798064"/>
            <a:ext cx="3657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300" dirty="0"/>
          </a:p>
        </p:txBody>
      </p:sp>
      <p:sp>
        <p:nvSpPr>
          <p:cNvPr id="15" name="Text 13"/>
          <p:cNvSpPr txBox="1"/>
          <p:nvPr/>
        </p:nvSpPr>
        <p:spPr>
          <a:xfrm>
            <a:off x="1417320" y="2660904"/>
            <a:ext cx="5120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1B202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ruff format fuera del gate</a:t>
            </a:r>
            <a:endParaRPr lang="en-US" sz="1350" dirty="0"/>
          </a:p>
        </p:txBody>
      </p:sp>
      <p:sp>
        <p:nvSpPr>
          <p:cNvPr id="16" name="Text 14"/>
          <p:cNvSpPr txBox="1"/>
          <p:nvPr/>
        </p:nvSpPr>
        <p:spPr>
          <a:xfrm>
            <a:off x="1417320" y="2944368"/>
            <a:ext cx="9875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5A64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 archivos sin formatear con la versión que fija el lockfile</a:t>
            </a:r>
            <a:endParaRPr lang="en-US" sz="1150" dirty="0"/>
          </a:p>
        </p:txBody>
      </p:sp>
      <p:sp>
        <p:nvSpPr>
          <p:cNvPr id="17" name="Shape 15"/>
          <p:cNvSpPr/>
          <p:nvPr/>
        </p:nvSpPr>
        <p:spPr>
          <a:xfrm>
            <a:off x="640080" y="3392424"/>
            <a:ext cx="10899648" cy="73152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76200" dist="12700" dir="5400000">
              <a:srgbClr val="9AA6B5">
                <a:alpha val="22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868680" y="3575304"/>
            <a:ext cx="365760" cy="365760"/>
          </a:xfrm>
          <a:prstGeom prst="ellipse">
            <a:avLst/>
          </a:prstGeom>
          <a:solidFill>
            <a:srgbClr val="E8A33D"/>
          </a:solidFill>
          <a:ln w="12700">
            <a:solidFill>
              <a:srgbClr val="E8A33D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868680" y="3648456"/>
            <a:ext cx="3657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300" dirty="0"/>
          </a:p>
        </p:txBody>
      </p:sp>
      <p:sp>
        <p:nvSpPr>
          <p:cNvPr id="20" name="Text 18"/>
          <p:cNvSpPr txBox="1"/>
          <p:nvPr/>
        </p:nvSpPr>
        <p:spPr>
          <a:xfrm>
            <a:off x="1417320" y="3511296"/>
            <a:ext cx="5120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1B202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Sin separación unitarias / integración</a:t>
            </a:r>
            <a:endParaRPr lang="en-US" sz="1350" dirty="0"/>
          </a:p>
        </p:txBody>
      </p:sp>
      <p:sp>
        <p:nvSpPr>
          <p:cNvPr id="21" name="Text 19"/>
          <p:cNvSpPr txBox="1"/>
          <p:nvPr/>
        </p:nvSpPr>
        <p:spPr>
          <a:xfrm>
            <a:off x="1417320" y="3794760"/>
            <a:ext cx="9875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5A64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Las 5 pruebas e2e corren en el mismo lote</a:t>
            </a:r>
            <a:endParaRPr lang="en-US" sz="1150" dirty="0"/>
          </a:p>
        </p:txBody>
      </p:sp>
      <p:sp>
        <p:nvSpPr>
          <p:cNvPr id="22" name="Shape 20"/>
          <p:cNvSpPr/>
          <p:nvPr/>
        </p:nvSpPr>
        <p:spPr>
          <a:xfrm>
            <a:off x="640080" y="4242816"/>
            <a:ext cx="10899648" cy="73152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76200" dist="12700" dir="5400000">
              <a:srgbClr val="9AA6B5">
                <a:alpha val="22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868680" y="4425696"/>
            <a:ext cx="365760" cy="365760"/>
          </a:xfrm>
          <a:prstGeom prst="ellipse">
            <a:avLst/>
          </a:prstGeom>
          <a:solidFill>
            <a:srgbClr val="E8A33D"/>
          </a:solidFill>
          <a:ln w="12700">
            <a:solidFill>
              <a:srgbClr val="E8A33D"/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868680" y="4498848"/>
            <a:ext cx="3657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300" dirty="0"/>
          </a:p>
        </p:txBody>
      </p:sp>
      <p:sp>
        <p:nvSpPr>
          <p:cNvPr id="25" name="Text 23"/>
          <p:cNvSpPr txBox="1"/>
          <p:nvPr/>
        </p:nvSpPr>
        <p:spPr>
          <a:xfrm>
            <a:off x="1417320" y="4361688"/>
            <a:ext cx="5120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1B202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DRY y complejidad sin gate</a:t>
            </a:r>
            <a:endParaRPr lang="en-US" sz="1350" dirty="0"/>
          </a:p>
        </p:txBody>
      </p:sp>
      <p:sp>
        <p:nvSpPr>
          <p:cNvPr id="26" name="Text 24"/>
          <p:cNvSpPr txBox="1"/>
          <p:nvPr/>
        </p:nvSpPr>
        <p:spPr>
          <a:xfrm>
            <a:off x="1417320" y="4645152"/>
            <a:ext cx="9875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5A64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Solo se detectan si alguien audita a mano</a:t>
            </a:r>
            <a:endParaRPr lang="en-US" sz="1150" dirty="0"/>
          </a:p>
        </p:txBody>
      </p:sp>
      <p:sp>
        <p:nvSpPr>
          <p:cNvPr id="27" name="Shape 25"/>
          <p:cNvSpPr/>
          <p:nvPr/>
        </p:nvSpPr>
        <p:spPr>
          <a:xfrm>
            <a:off x="640080" y="5093208"/>
            <a:ext cx="10899648" cy="73152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76200" dist="12700" dir="5400000">
              <a:srgbClr val="9AA6B5">
                <a:alpha val="22000"/>
              </a:srgbClr>
            </a:outerShdw>
          </a:effectLst>
        </p:spPr>
      </p:sp>
      <p:sp>
        <p:nvSpPr>
          <p:cNvPr id="28" name="Shape 26"/>
          <p:cNvSpPr/>
          <p:nvPr/>
        </p:nvSpPr>
        <p:spPr>
          <a:xfrm>
            <a:off x="868680" y="5276088"/>
            <a:ext cx="365760" cy="365760"/>
          </a:xfrm>
          <a:prstGeom prst="ellipse">
            <a:avLst/>
          </a:prstGeom>
          <a:solidFill>
            <a:srgbClr val="E8A33D"/>
          </a:solidFill>
          <a:ln w="12700">
            <a:solidFill>
              <a:srgbClr val="E8A33D"/>
            </a:solidFill>
            <a:prstDash val="solid"/>
          </a:ln>
        </p:spPr>
      </p:sp>
      <p:sp>
        <p:nvSpPr>
          <p:cNvPr id="29" name="Text 27"/>
          <p:cNvSpPr txBox="1"/>
          <p:nvPr/>
        </p:nvSpPr>
        <p:spPr>
          <a:xfrm>
            <a:off x="868680" y="5349240"/>
            <a:ext cx="3657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300" dirty="0"/>
          </a:p>
        </p:txBody>
      </p:sp>
      <p:sp>
        <p:nvSpPr>
          <p:cNvPr id="30" name="Text 28"/>
          <p:cNvSpPr txBox="1"/>
          <p:nvPr/>
        </p:nvSpPr>
        <p:spPr>
          <a:xfrm>
            <a:off x="1417320" y="5212080"/>
            <a:ext cx="5120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1B202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CVE en pip, alcanzable solo en desarrollo</a:t>
            </a:r>
            <a:endParaRPr lang="en-US" sz="1350" dirty="0"/>
          </a:p>
        </p:txBody>
      </p:sp>
      <p:sp>
        <p:nvSpPr>
          <p:cNvPr id="31" name="Text 29"/>
          <p:cNvSpPr txBox="1"/>
          <p:nvPr/>
        </p:nvSpPr>
        <p:spPr>
          <a:xfrm>
            <a:off x="1417320" y="5495544"/>
            <a:ext cx="9875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5A64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Transitiva de pip-audit; no viaja al usuario</a:t>
            </a:r>
            <a:endParaRPr lang="en-US" sz="1150" dirty="0"/>
          </a:p>
        </p:txBody>
      </p:sp>
      <p:sp>
        <p:nvSpPr>
          <p:cNvPr id="32" name="Text 30"/>
          <p:cNvSpPr txBox="1"/>
          <p:nvPr/>
        </p:nvSpPr>
        <p:spPr>
          <a:xfrm>
            <a:off x="640080" y="6035040"/>
            <a:ext cx="10881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1F6F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Una tarde de trabajo cierra los cinco. Todos son de tamaño S.</a:t>
            </a:r>
            <a:endParaRPr lang="en-US" sz="13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1B20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954512" y="5623560"/>
            <a:ext cx="2468880" cy="2468880"/>
          </a:xfrm>
          <a:prstGeom prst="ellipse">
            <a:avLst/>
          </a:prstGeom>
          <a:solidFill>
            <a:srgbClr val="00B4A6">
              <a:alpha val="22000"/>
            </a:srgbClr>
          </a:solidFill>
          <a:ln w="12700">
            <a:solidFill>
              <a:srgbClr val="00B4A6">
                <a:alpha val="52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0360152" y="5029200"/>
            <a:ext cx="3657600" cy="3657600"/>
          </a:xfrm>
          <a:prstGeom prst="ellipse">
            <a:avLst/>
          </a:prstGeom>
          <a:solidFill>
            <a:srgbClr val="00B4A6">
              <a:alpha val="14000"/>
            </a:srgbClr>
          </a:solidFill>
          <a:ln w="12700">
            <a:solidFill>
              <a:srgbClr val="00B4A6">
                <a:alpha val="44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9720072" y="4389120"/>
            <a:ext cx="4937760" cy="4937760"/>
          </a:xfrm>
          <a:prstGeom prst="ellipse">
            <a:avLst/>
          </a:prstGeom>
          <a:solidFill>
            <a:srgbClr val="00B4A6">
              <a:alpha val="8000"/>
            </a:srgbClr>
          </a:solidFill>
          <a:ln w="12700">
            <a:solidFill>
              <a:srgbClr val="00B4A6">
                <a:alpha val="38000"/>
              </a:srgbClr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40080" y="384048"/>
            <a:ext cx="10881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00B4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ARQUITECTURA</a:t>
            </a:r>
            <a:endParaRPr lang="en-US" sz="1100" dirty="0"/>
          </a:p>
        </p:txBody>
      </p:sp>
      <p:sp>
        <p:nvSpPr>
          <p:cNvPr id="6" name="Text 4"/>
          <p:cNvSpPr txBox="1"/>
          <p:nvPr/>
        </p:nvSpPr>
        <p:spPr>
          <a:xfrm>
            <a:off x="640080" y="685800"/>
            <a:ext cx="108813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2F5F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Sana en lo estructural, cara de evolucionar</a:t>
            </a:r>
            <a:endParaRPr lang="en-US" sz="3200" dirty="0"/>
          </a:p>
        </p:txBody>
      </p:sp>
      <p:sp>
        <p:nvSpPr>
          <p:cNvPr id="7" name="Shape 5"/>
          <p:cNvSpPr/>
          <p:nvPr/>
        </p:nvSpPr>
        <p:spPr>
          <a:xfrm>
            <a:off x="640080" y="1783080"/>
            <a:ext cx="1371600" cy="804672"/>
          </a:xfrm>
          <a:prstGeom prst="roundRect">
            <a:avLst>
              <a:gd name="adj" fmla="val 9091"/>
            </a:avLst>
          </a:prstGeom>
          <a:solidFill>
            <a:srgbClr val="2E3744"/>
          </a:solidFill>
          <a:ln w="12700">
            <a:solidFill>
              <a:srgbClr val="2E3744"/>
            </a:solidFill>
            <a:prstDash val="solid"/>
          </a:ln>
          <a:effectLst>
            <a:outerShdw sx="100000" sy="100000" kx="0" ky="0" algn="bl" rotWithShape="0" blurRad="76200" dist="12700" dir="5400000">
              <a:srgbClr val="9AA6B5">
                <a:alpha val="22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1207008" y="1911096"/>
            <a:ext cx="237744" cy="237744"/>
          </a:xfrm>
          <a:prstGeom prst="ellipse">
            <a:avLst/>
          </a:prstGeom>
          <a:solidFill>
            <a:srgbClr val="E8A33D"/>
          </a:solidFill>
          <a:ln w="12700">
            <a:solidFill>
              <a:srgbClr val="E8A33D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694944" y="2240280"/>
            <a:ext cx="12618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AA6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Acoplamiento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2157984" y="1783080"/>
            <a:ext cx="1371600" cy="804672"/>
          </a:xfrm>
          <a:prstGeom prst="roundRect">
            <a:avLst>
              <a:gd name="adj" fmla="val 9091"/>
            </a:avLst>
          </a:prstGeom>
          <a:solidFill>
            <a:srgbClr val="2E3744"/>
          </a:solidFill>
          <a:ln w="12700">
            <a:solidFill>
              <a:srgbClr val="2E3744"/>
            </a:solidFill>
            <a:prstDash val="solid"/>
          </a:ln>
          <a:effectLst>
            <a:outerShdw sx="100000" sy="100000" kx="0" ky="0" algn="bl" rotWithShape="0" blurRad="76200" dist="12700" dir="5400000">
              <a:srgbClr val="9AA6B5">
                <a:alpha val="22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2724912" y="1911096"/>
            <a:ext cx="237744" cy="237744"/>
          </a:xfrm>
          <a:prstGeom prst="ellipse">
            <a:avLst/>
          </a:prstGeom>
          <a:solidFill>
            <a:srgbClr val="E8A33D"/>
          </a:solidFill>
          <a:ln w="12700">
            <a:solidFill>
              <a:srgbClr val="E8A33D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2212848" y="2240280"/>
            <a:ext cx="12618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AA6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Cohesión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3675888" y="1783080"/>
            <a:ext cx="1371600" cy="804672"/>
          </a:xfrm>
          <a:prstGeom prst="roundRect">
            <a:avLst>
              <a:gd name="adj" fmla="val 9091"/>
            </a:avLst>
          </a:prstGeom>
          <a:solidFill>
            <a:srgbClr val="2E3744"/>
          </a:solidFill>
          <a:ln w="12700">
            <a:solidFill>
              <a:srgbClr val="2E3744"/>
            </a:solidFill>
            <a:prstDash val="solid"/>
          </a:ln>
          <a:effectLst>
            <a:outerShdw sx="100000" sy="100000" kx="0" ky="0" algn="bl" rotWithShape="0" blurRad="76200" dist="12700" dir="5400000">
              <a:srgbClr val="9AA6B5">
                <a:alpha val="22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4242816" y="1911096"/>
            <a:ext cx="237744" cy="237744"/>
          </a:xfrm>
          <a:prstGeom prst="ellipse">
            <a:avLst/>
          </a:prstGeom>
          <a:solidFill>
            <a:srgbClr val="27AE60"/>
          </a:solidFill>
          <a:ln w="12700">
            <a:solidFill>
              <a:srgbClr val="27AE60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3730752" y="2240280"/>
            <a:ext cx="12618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AA6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Testabilidad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5193792" y="1783080"/>
            <a:ext cx="1371600" cy="804672"/>
          </a:xfrm>
          <a:prstGeom prst="roundRect">
            <a:avLst>
              <a:gd name="adj" fmla="val 9091"/>
            </a:avLst>
          </a:prstGeom>
          <a:solidFill>
            <a:srgbClr val="2E3744"/>
          </a:solidFill>
          <a:ln w="12700">
            <a:solidFill>
              <a:srgbClr val="2E3744"/>
            </a:solidFill>
            <a:prstDash val="solid"/>
          </a:ln>
          <a:effectLst>
            <a:outerShdw sx="100000" sy="100000" kx="0" ky="0" algn="bl" rotWithShape="0" blurRad="76200" dist="12700" dir="5400000">
              <a:srgbClr val="9AA6B5">
                <a:alpha val="22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5760720" y="1911096"/>
            <a:ext cx="237744" cy="237744"/>
          </a:xfrm>
          <a:prstGeom prst="ellipse">
            <a:avLst/>
          </a:prstGeom>
          <a:solidFill>
            <a:srgbClr val="27AE60"/>
          </a:solidFill>
          <a:ln w="12700">
            <a:solidFill>
              <a:srgbClr val="27AE60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5248656" y="2240280"/>
            <a:ext cx="12618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AA6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Resiliencia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640080" y="2743200"/>
            <a:ext cx="1371600" cy="804672"/>
          </a:xfrm>
          <a:prstGeom prst="roundRect">
            <a:avLst>
              <a:gd name="adj" fmla="val 9091"/>
            </a:avLst>
          </a:prstGeom>
          <a:solidFill>
            <a:srgbClr val="2E3744"/>
          </a:solidFill>
          <a:ln w="12700">
            <a:solidFill>
              <a:srgbClr val="2E3744"/>
            </a:solidFill>
            <a:prstDash val="solid"/>
          </a:ln>
          <a:effectLst>
            <a:outerShdw sx="100000" sy="100000" kx="0" ky="0" algn="bl" rotWithShape="0" blurRad="76200" dist="12700" dir="5400000">
              <a:srgbClr val="9AA6B5">
                <a:alpha val="22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1207008" y="2871216"/>
            <a:ext cx="237744" cy="237744"/>
          </a:xfrm>
          <a:prstGeom prst="ellipse">
            <a:avLst/>
          </a:prstGeom>
          <a:solidFill>
            <a:srgbClr val="E8A33D"/>
          </a:solidFill>
          <a:ln w="12700">
            <a:solidFill>
              <a:srgbClr val="E8A33D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694944" y="3200400"/>
            <a:ext cx="12618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AA6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Datos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2157984" y="2743200"/>
            <a:ext cx="1371600" cy="804672"/>
          </a:xfrm>
          <a:prstGeom prst="roundRect">
            <a:avLst>
              <a:gd name="adj" fmla="val 9091"/>
            </a:avLst>
          </a:prstGeom>
          <a:solidFill>
            <a:srgbClr val="2E3744"/>
          </a:solidFill>
          <a:ln w="12700">
            <a:solidFill>
              <a:srgbClr val="2E3744"/>
            </a:solidFill>
            <a:prstDash val="solid"/>
          </a:ln>
          <a:effectLst>
            <a:outerShdw sx="100000" sy="100000" kx="0" ky="0" algn="bl" rotWithShape="0" blurRad="76200" dist="12700" dir="5400000">
              <a:srgbClr val="9AA6B5">
                <a:alpha val="22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2724912" y="2871216"/>
            <a:ext cx="237744" cy="237744"/>
          </a:xfrm>
          <a:prstGeom prst="ellipse">
            <a:avLst/>
          </a:prstGeom>
          <a:solidFill>
            <a:srgbClr val="E8A33D"/>
          </a:solidFill>
          <a:ln w="12700">
            <a:solidFill>
              <a:srgbClr val="E8A33D"/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2212848" y="3200400"/>
            <a:ext cx="12618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AA6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Observabilidad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3675888" y="2743200"/>
            <a:ext cx="1371600" cy="804672"/>
          </a:xfrm>
          <a:prstGeom prst="roundRect">
            <a:avLst>
              <a:gd name="adj" fmla="val 9091"/>
            </a:avLst>
          </a:prstGeom>
          <a:solidFill>
            <a:srgbClr val="2E3744"/>
          </a:solidFill>
          <a:ln w="12700">
            <a:solidFill>
              <a:srgbClr val="2E3744"/>
            </a:solidFill>
            <a:prstDash val="solid"/>
          </a:ln>
          <a:effectLst>
            <a:outerShdw sx="100000" sy="100000" kx="0" ky="0" algn="bl" rotWithShape="0" blurRad="76200" dist="12700" dir="5400000">
              <a:srgbClr val="9AA6B5">
                <a:alpha val="22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4242816" y="2871216"/>
            <a:ext cx="237744" cy="237744"/>
          </a:xfrm>
          <a:prstGeom prst="ellipse">
            <a:avLst/>
          </a:prstGeom>
          <a:solidFill>
            <a:srgbClr val="27AE60"/>
          </a:solidFill>
          <a:ln w="12700">
            <a:solidFill>
              <a:srgbClr val="27AE60"/>
            </a:solidFill>
            <a:prstDash val="solid"/>
          </a:ln>
        </p:spPr>
      </p:sp>
      <p:sp>
        <p:nvSpPr>
          <p:cNvPr id="27" name="Text 25"/>
          <p:cNvSpPr txBox="1"/>
          <p:nvPr/>
        </p:nvSpPr>
        <p:spPr>
          <a:xfrm>
            <a:off x="3730752" y="3200400"/>
            <a:ext cx="12618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AA6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Seguridad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5193792" y="2743200"/>
            <a:ext cx="1371600" cy="804672"/>
          </a:xfrm>
          <a:prstGeom prst="roundRect">
            <a:avLst>
              <a:gd name="adj" fmla="val 9091"/>
            </a:avLst>
          </a:prstGeom>
          <a:solidFill>
            <a:srgbClr val="2E3744"/>
          </a:solidFill>
          <a:ln w="12700">
            <a:solidFill>
              <a:srgbClr val="2E3744"/>
            </a:solidFill>
            <a:prstDash val="solid"/>
          </a:ln>
          <a:effectLst>
            <a:outerShdw sx="100000" sy="100000" kx="0" ky="0" algn="bl" rotWithShape="0" blurRad="76200" dist="12700" dir="5400000">
              <a:srgbClr val="9AA6B5">
                <a:alpha val="22000"/>
              </a:srgbClr>
            </a:outerShdw>
          </a:effectLst>
        </p:spPr>
      </p:sp>
      <p:sp>
        <p:nvSpPr>
          <p:cNvPr id="29" name="Shape 27"/>
          <p:cNvSpPr/>
          <p:nvPr/>
        </p:nvSpPr>
        <p:spPr>
          <a:xfrm>
            <a:off x="5760720" y="2871216"/>
            <a:ext cx="237744" cy="237744"/>
          </a:xfrm>
          <a:prstGeom prst="ellipse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30" name="Text 28"/>
          <p:cNvSpPr txBox="1"/>
          <p:nvPr/>
        </p:nvSpPr>
        <p:spPr>
          <a:xfrm>
            <a:off x="5248656" y="3200400"/>
            <a:ext cx="12618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AA6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Evolutividad</a:t>
            </a:r>
            <a:endParaRPr lang="en-US" sz="1000" dirty="0"/>
          </a:p>
        </p:txBody>
      </p:sp>
      <p:sp>
        <p:nvSpPr>
          <p:cNvPr id="31" name="Shape 29"/>
          <p:cNvSpPr/>
          <p:nvPr/>
        </p:nvSpPr>
        <p:spPr>
          <a:xfrm>
            <a:off x="6949440" y="1783080"/>
            <a:ext cx="4590288" cy="1874520"/>
          </a:xfrm>
          <a:prstGeom prst="roundRect">
            <a:avLst>
              <a:gd name="adj" fmla="val 3902"/>
            </a:avLst>
          </a:prstGeom>
          <a:solidFill>
            <a:srgbClr val="2E3744"/>
          </a:solidFill>
          <a:ln w="12700">
            <a:solidFill>
              <a:srgbClr val="2E3744"/>
            </a:solidFill>
            <a:prstDash val="solid"/>
          </a:ln>
          <a:effectLst>
            <a:outerShdw sx="100000" sy="100000" kx="0" ky="0" algn="bl" rotWithShape="0" blurRad="76200" dist="12700" dir="5400000">
              <a:srgbClr val="9AA6B5">
                <a:alpha val="22000"/>
              </a:srgbClr>
            </a:outerShdw>
          </a:effectLst>
        </p:spPr>
      </p:sp>
      <p:sp>
        <p:nvSpPr>
          <p:cNvPr id="32" name="Text 30"/>
          <p:cNvSpPr txBox="1"/>
          <p:nvPr/>
        </p:nvSpPr>
        <p:spPr>
          <a:xfrm>
            <a:off x="7223760" y="1965960"/>
            <a:ext cx="40233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600" b="1" dirty="0">
                <a:solidFill>
                  <a:srgbClr val="C039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25 de 40</a:t>
            </a:r>
            <a:endParaRPr lang="en-US" sz="3600" dirty="0"/>
          </a:p>
        </p:txBody>
      </p:sp>
      <p:sp>
        <p:nvSpPr>
          <p:cNvPr id="33" name="Text 31"/>
          <p:cNvSpPr txBox="1"/>
          <p:nvPr/>
        </p:nvSpPr>
        <p:spPr>
          <a:xfrm>
            <a:off x="7223760" y="2578608"/>
            <a:ext cx="40690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00"/>
              </a:lnSpc>
              <a:buNone/>
            </a:pPr>
            <a:r>
              <a:rPr lang="en-US" sz="1200" dirty="0">
                <a:solidFill>
                  <a:srgbClr val="9AA6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módulos importa app.py — cinco veces más que el siguiente. Toda feature nueva entra por ahí.</a:t>
            </a:r>
            <a:endParaRPr lang="en-US" sz="1200" dirty="0"/>
          </a:p>
        </p:txBody>
      </p:sp>
      <p:sp>
        <p:nvSpPr>
          <p:cNvPr id="34" name="Shape 32"/>
          <p:cNvSpPr/>
          <p:nvPr/>
        </p:nvSpPr>
        <p:spPr>
          <a:xfrm>
            <a:off x="640080" y="3886200"/>
            <a:ext cx="10899648" cy="1600200"/>
          </a:xfrm>
          <a:prstGeom prst="roundRect">
            <a:avLst>
              <a:gd name="adj" fmla="val 4571"/>
            </a:avLst>
          </a:prstGeom>
          <a:solidFill>
            <a:srgbClr val="2E3744"/>
          </a:solidFill>
          <a:ln w="12700">
            <a:solidFill>
              <a:srgbClr val="2E3744"/>
            </a:solidFill>
            <a:prstDash val="solid"/>
          </a:ln>
          <a:effectLst>
            <a:outerShdw sx="100000" sy="100000" kx="0" ky="0" algn="bl" rotWithShape="0" blurRad="76200" dist="12700" dir="5400000">
              <a:srgbClr val="9AA6B5">
                <a:alpha val="22000"/>
              </a:srgbClr>
            </a:outerShdw>
          </a:effectLst>
        </p:spPr>
      </p:sp>
      <p:sp>
        <p:nvSpPr>
          <p:cNvPr id="35" name="Text 33"/>
          <p:cNvSpPr txBox="1"/>
          <p:nvPr/>
        </p:nvSpPr>
        <p:spPr>
          <a:xfrm>
            <a:off x="914400" y="4069080"/>
            <a:ext cx="10332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F2F5F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Y una condición de carrera en el apagado</a:t>
            </a:r>
            <a:endParaRPr lang="en-US" sz="1500" dirty="0"/>
          </a:p>
        </p:txBody>
      </p:sp>
      <p:sp>
        <p:nvSpPr>
          <p:cNvPr id="36" name="Text 34"/>
          <p:cNvSpPr txBox="1"/>
          <p:nvPr/>
        </p:nvSpPr>
        <p:spPr>
          <a:xfrm>
            <a:off x="914400" y="4434840"/>
            <a:ext cx="103327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700"/>
              </a:lnSpc>
              <a:buNone/>
            </a:pPr>
            <a:r>
              <a:rPr lang="en-US" sz="1250" dirty="0">
                <a:solidFill>
                  <a:srgbClr val="9AA6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Application escribe _loop y _sup desde el hilo de asyncio y los lee desde el de Tk sin sincronizar. Si la parada llega antes, la cancelación no se ejecuta. El propio proyecto ya resuelve esto bien en AgentState, con Lock: la inconsistencia del patrón es el defecto.</a:t>
            </a:r>
            <a:endParaRPr lang="en-US" sz="12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EEF1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954512" y="5623560"/>
            <a:ext cx="2468880" cy="2468880"/>
          </a:xfrm>
          <a:prstGeom prst="ellipse">
            <a:avLst/>
          </a:prstGeom>
          <a:solidFill>
            <a:srgbClr val="00B4A6">
              <a:alpha val="22000"/>
            </a:srgbClr>
          </a:solidFill>
          <a:ln w="12700">
            <a:solidFill>
              <a:srgbClr val="00B4A6">
                <a:alpha val="52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0360152" y="5029200"/>
            <a:ext cx="3657600" cy="3657600"/>
          </a:xfrm>
          <a:prstGeom prst="ellipse">
            <a:avLst/>
          </a:prstGeom>
          <a:solidFill>
            <a:srgbClr val="00B4A6">
              <a:alpha val="14000"/>
            </a:srgbClr>
          </a:solidFill>
          <a:ln w="12700">
            <a:solidFill>
              <a:srgbClr val="00B4A6">
                <a:alpha val="44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9720072" y="4389120"/>
            <a:ext cx="4937760" cy="4937760"/>
          </a:xfrm>
          <a:prstGeom prst="ellipse">
            <a:avLst/>
          </a:prstGeom>
          <a:solidFill>
            <a:srgbClr val="00B4A6">
              <a:alpha val="8000"/>
            </a:srgbClr>
          </a:solidFill>
          <a:ln w="12700">
            <a:solidFill>
              <a:srgbClr val="00B4A6">
                <a:alpha val="38000"/>
              </a:srgbClr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40080" y="384048"/>
            <a:ext cx="10881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00B4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RIGOR</a:t>
            </a:r>
            <a:endParaRPr lang="en-US" sz="1100" dirty="0"/>
          </a:p>
        </p:txBody>
      </p:sp>
      <p:sp>
        <p:nvSpPr>
          <p:cNvPr id="6" name="Text 4"/>
          <p:cNvSpPr txBox="1"/>
          <p:nvPr/>
        </p:nvSpPr>
        <p:spPr>
          <a:xfrm>
            <a:off x="640080" y="685800"/>
            <a:ext cx="108813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B202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Lo que las herramientas dijeron y no era cierto</a:t>
            </a:r>
            <a:endParaRPr lang="en-US" sz="3200" dirty="0"/>
          </a:p>
        </p:txBody>
      </p:sp>
      <p:sp>
        <p:nvSpPr>
          <p:cNvPr id="7" name="Shape 5"/>
          <p:cNvSpPr/>
          <p:nvPr/>
        </p:nvSpPr>
        <p:spPr>
          <a:xfrm>
            <a:off x="640080" y="1737360"/>
            <a:ext cx="10899648" cy="9144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76200" dist="12700" dir="5400000">
              <a:srgbClr val="9AA6B5">
                <a:alpha val="22000"/>
              </a:srgbClr>
            </a:outerShdw>
          </a:effectLst>
        </p:spPr>
      </p:sp>
      <p:sp>
        <p:nvSpPr>
          <p:cNvPr id="8" name="Text 6"/>
          <p:cNvSpPr txBox="1"/>
          <p:nvPr/>
        </p:nvSpPr>
        <p:spPr>
          <a:xfrm>
            <a:off x="914400" y="1865376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1B202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Ciclo de dependencias</a:t>
            </a:r>
            <a:endParaRPr lang="en-US" sz="1350" dirty="0"/>
          </a:p>
        </p:txBody>
      </p:sp>
      <p:sp>
        <p:nvSpPr>
          <p:cNvPr id="9" name="Text 7"/>
          <p:cNvSpPr txBox="1"/>
          <p:nvPr/>
        </p:nvSpPr>
        <p:spPr>
          <a:xfrm>
            <a:off x="914400" y="2176272"/>
            <a:ext cx="3108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i="1" dirty="0">
                <a:solidFill>
                  <a:srgbClr val="5A64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marcado "evidencia P1" por el script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4206240" y="2057400"/>
            <a:ext cx="256032" cy="256032"/>
          </a:xfrm>
          <a:prstGeom prst="ellipse">
            <a:avLst/>
          </a:prstGeom>
          <a:solidFill>
            <a:srgbClr val="00B4A6"/>
          </a:solidFill>
          <a:ln w="12700">
            <a:solidFill>
              <a:srgbClr val="00B4A6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4617720" y="1993392"/>
            <a:ext cx="6675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00"/>
              </a:lnSpc>
              <a:buNone/>
            </a:pPr>
            <a:r>
              <a:rPr lang="en-US" sz="1250" dirty="0">
                <a:solidFill>
                  <a:srgbClr val="1B20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Verificado a nivel de archivo: 0 ciclos. Artefacto de agrupar por directorio.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640080" y="2788920"/>
            <a:ext cx="10899648" cy="9144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76200" dist="12700" dir="5400000">
              <a:srgbClr val="9AA6B5">
                <a:alpha val="22000"/>
              </a:srgbClr>
            </a:outerShdw>
          </a:effectLst>
        </p:spPr>
      </p:sp>
      <p:sp>
        <p:nvSpPr>
          <p:cNvPr id="13" name="Text 11"/>
          <p:cNvSpPr txBox="1"/>
          <p:nvPr/>
        </p:nvSpPr>
        <p:spPr>
          <a:xfrm>
            <a:off x="914400" y="2916936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1B202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God-module src/vigia_eew</a:t>
            </a:r>
            <a:endParaRPr lang="en-US" sz="1350" dirty="0"/>
          </a:p>
        </p:txBody>
      </p:sp>
      <p:sp>
        <p:nvSpPr>
          <p:cNvPr id="14" name="Text 12"/>
          <p:cNvSpPr txBox="1"/>
          <p:nvPr/>
        </p:nvSpPr>
        <p:spPr>
          <a:xfrm>
            <a:off x="914400" y="3227832"/>
            <a:ext cx="3108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i="1" dirty="0">
                <a:solidFill>
                  <a:srgbClr val="5A64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fan-in 6, fan-out 4, 1.771 LOC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4206240" y="3108960"/>
            <a:ext cx="256032" cy="256032"/>
          </a:xfrm>
          <a:prstGeom prst="ellipse">
            <a:avLst/>
          </a:prstGeom>
          <a:solidFill>
            <a:srgbClr val="00B4A6"/>
          </a:solidFill>
          <a:ln w="12700">
            <a:solidFill>
              <a:srgbClr val="00B4A6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4617720" y="3044952"/>
            <a:ext cx="6675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00"/>
              </a:lnSpc>
              <a:buNone/>
            </a:pPr>
            <a:r>
              <a:rPr lang="en-US" sz="1250" dirty="0">
                <a:solidFill>
                  <a:srgbClr val="1B20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Reformulado, no descartado: el problema real es app.py con fan-out 25.</a:t>
            </a:r>
            <a:endParaRPr lang="en-US" sz="1250" dirty="0"/>
          </a:p>
        </p:txBody>
      </p:sp>
      <p:sp>
        <p:nvSpPr>
          <p:cNvPr id="17" name="Shape 15"/>
          <p:cNvSpPr/>
          <p:nvPr/>
        </p:nvSpPr>
        <p:spPr>
          <a:xfrm>
            <a:off x="640080" y="3840480"/>
            <a:ext cx="10899648" cy="9144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76200" dist="12700" dir="5400000">
              <a:srgbClr val="9AA6B5">
                <a:alpha val="22000"/>
              </a:srgbClr>
            </a:outerShdw>
          </a:effectLst>
        </p:spPr>
      </p:sp>
      <p:sp>
        <p:nvSpPr>
          <p:cNvPr id="18" name="Text 16"/>
          <p:cNvSpPr txBox="1"/>
          <p:nvPr/>
        </p:nvSpPr>
        <p:spPr>
          <a:xfrm>
            <a:off x="914400" y="3968496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1B202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15 pares de co-cambio</a:t>
            </a:r>
            <a:endParaRPr lang="en-US" sz="1350" dirty="0"/>
          </a:p>
        </p:txBody>
      </p:sp>
      <p:sp>
        <p:nvSpPr>
          <p:cNvPr id="19" name="Text 17"/>
          <p:cNvSpPr txBox="1"/>
          <p:nvPr/>
        </p:nvSpPr>
        <p:spPr>
          <a:xfrm>
            <a:off x="914400" y="4279392"/>
            <a:ext cx="3108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i="1" dirty="0">
                <a:solidFill>
                  <a:srgbClr val="5A64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"fronteras ficticias"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4206240" y="4160520"/>
            <a:ext cx="256032" cy="256032"/>
          </a:xfrm>
          <a:prstGeom prst="ellipse">
            <a:avLst/>
          </a:prstGeom>
          <a:solidFill>
            <a:srgbClr val="00B4A6"/>
          </a:solidFill>
          <a:ln w="12700">
            <a:solidFill>
              <a:srgbClr val="00B4A6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4617720" y="4096512"/>
            <a:ext cx="6675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00"/>
              </a:lnSpc>
              <a:buNone/>
            </a:pPr>
            <a:r>
              <a:rPr lang="en-US" sz="1250" dirty="0">
                <a:solidFill>
                  <a:srgbClr val="1B20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Todos son fuente↔su propio test o documento↔documento. Sanos.</a:t>
            </a:r>
            <a:endParaRPr lang="en-US" sz="1250" dirty="0"/>
          </a:p>
        </p:txBody>
      </p:sp>
      <p:sp>
        <p:nvSpPr>
          <p:cNvPr id="22" name="Shape 20"/>
          <p:cNvSpPr/>
          <p:nvPr/>
        </p:nvSpPr>
        <p:spPr>
          <a:xfrm>
            <a:off x="640080" y="4892040"/>
            <a:ext cx="10899648" cy="9144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76200" dist="12700" dir="5400000">
              <a:srgbClr val="9AA6B5">
                <a:alpha val="22000"/>
              </a:srgbClr>
            </a:outerShdw>
          </a:effectLst>
        </p:spPr>
      </p:sp>
      <p:sp>
        <p:nvSpPr>
          <p:cNvPr id="23" name="Text 21"/>
          <p:cNvSpPr txBox="1"/>
          <p:nvPr/>
        </p:nvSpPr>
        <p:spPr>
          <a:xfrm>
            <a:off x="914400" y="5020056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1B202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251.255 LOC de Python</a:t>
            </a:r>
            <a:endParaRPr lang="en-US" sz="1350" dirty="0"/>
          </a:p>
        </p:txBody>
      </p:sp>
      <p:sp>
        <p:nvSpPr>
          <p:cNvPr id="24" name="Text 22"/>
          <p:cNvSpPr txBox="1"/>
          <p:nvPr/>
        </p:nvSpPr>
        <p:spPr>
          <a:xfrm>
            <a:off x="914400" y="5330952"/>
            <a:ext cx="3108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i="1" dirty="0">
                <a:solidFill>
                  <a:srgbClr val="5A64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reportado por el inventario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4206240" y="5212080"/>
            <a:ext cx="256032" cy="256032"/>
          </a:xfrm>
          <a:prstGeom prst="ellipse">
            <a:avLst/>
          </a:prstGeom>
          <a:solidFill>
            <a:srgbClr val="00B4A6"/>
          </a:solidFill>
          <a:ln w="12700">
            <a:solidFill>
              <a:srgbClr val="00B4A6"/>
            </a:solidFill>
            <a:prstDash val="solid"/>
          </a:ln>
        </p:spPr>
      </p:sp>
      <p:sp>
        <p:nvSpPr>
          <p:cNvPr id="26" name="Text 24"/>
          <p:cNvSpPr txBox="1"/>
          <p:nvPr/>
        </p:nvSpPr>
        <p:spPr>
          <a:xfrm>
            <a:off x="4617720" y="5148072"/>
            <a:ext cx="6675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00"/>
              </a:lnSpc>
              <a:buNone/>
            </a:pPr>
            <a:r>
              <a:rPr lang="en-US" sz="1250" dirty="0">
                <a:solidFill>
                  <a:srgbClr val="1B20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Son 9.186. El resto es un entorno virtual en el árbol de trabajo.</a:t>
            </a:r>
            <a:endParaRPr lang="en-US" sz="1250" dirty="0"/>
          </a:p>
        </p:txBody>
      </p:sp>
      <p:sp>
        <p:nvSpPr>
          <p:cNvPr id="27" name="Text 25"/>
          <p:cNvSpPr txBox="1"/>
          <p:nvPr/>
        </p:nvSpPr>
        <p:spPr>
          <a:xfrm>
            <a:off x="640080" y="5989320"/>
            <a:ext cx="10881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i="1" dirty="0">
                <a:solidFill>
                  <a:srgbClr val="5A64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Documentados uno a uno para que la próxima auditoría no vuelva a litigarlos.</a:t>
            </a:r>
            <a:endParaRPr lang="en-US" sz="125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1B20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954512" y="5623560"/>
            <a:ext cx="2468880" cy="2468880"/>
          </a:xfrm>
          <a:prstGeom prst="ellipse">
            <a:avLst/>
          </a:prstGeom>
          <a:solidFill>
            <a:srgbClr val="00B4A6">
              <a:alpha val="22000"/>
            </a:srgbClr>
          </a:solidFill>
          <a:ln w="12700">
            <a:solidFill>
              <a:srgbClr val="00B4A6">
                <a:alpha val="52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0360152" y="5029200"/>
            <a:ext cx="3657600" cy="3657600"/>
          </a:xfrm>
          <a:prstGeom prst="ellipse">
            <a:avLst/>
          </a:prstGeom>
          <a:solidFill>
            <a:srgbClr val="00B4A6">
              <a:alpha val="14000"/>
            </a:srgbClr>
          </a:solidFill>
          <a:ln w="12700">
            <a:solidFill>
              <a:srgbClr val="00B4A6">
                <a:alpha val="44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9720072" y="4389120"/>
            <a:ext cx="4937760" cy="4937760"/>
          </a:xfrm>
          <a:prstGeom prst="ellipse">
            <a:avLst/>
          </a:prstGeom>
          <a:solidFill>
            <a:srgbClr val="00B4A6">
              <a:alpha val="8000"/>
            </a:srgbClr>
          </a:solidFill>
          <a:ln w="12700">
            <a:solidFill>
              <a:srgbClr val="00B4A6">
                <a:alpha val="38000"/>
              </a:srgbClr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40080" y="384048"/>
            <a:ext cx="10881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00B4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HONESTIDAD</a:t>
            </a:r>
            <a:endParaRPr lang="en-US" sz="1100" dirty="0"/>
          </a:p>
        </p:txBody>
      </p:sp>
      <p:sp>
        <p:nvSpPr>
          <p:cNvPr id="6" name="Text 4"/>
          <p:cNvSpPr txBox="1"/>
          <p:nvPr/>
        </p:nvSpPr>
        <p:spPr>
          <a:xfrm>
            <a:off x="640080" y="685800"/>
            <a:ext cx="108813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2F5F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Lo que no se pudo medir, y por qué</a:t>
            </a:r>
            <a:endParaRPr lang="en-US" sz="3200" dirty="0"/>
          </a:p>
        </p:txBody>
      </p:sp>
      <p:sp>
        <p:nvSpPr>
          <p:cNvPr id="7" name="Shape 5"/>
          <p:cNvSpPr/>
          <p:nvPr/>
        </p:nvSpPr>
        <p:spPr>
          <a:xfrm>
            <a:off x="640080" y="1737360"/>
            <a:ext cx="10899648" cy="896112"/>
          </a:xfrm>
          <a:prstGeom prst="roundRect">
            <a:avLst>
              <a:gd name="adj" fmla="val 8163"/>
            </a:avLst>
          </a:prstGeom>
          <a:solidFill>
            <a:srgbClr val="2E3744"/>
          </a:solidFill>
          <a:ln w="12700">
            <a:solidFill>
              <a:srgbClr val="2E3744"/>
            </a:solidFill>
            <a:prstDash val="solid"/>
          </a:ln>
          <a:effectLst>
            <a:outerShdw sx="100000" sy="100000" kx="0" ky="0" algn="bl" rotWithShape="0" blurRad="76200" dist="12700" dir="5400000">
              <a:srgbClr val="9AA6B5">
                <a:alpha val="22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914400" y="2057400"/>
            <a:ext cx="274320" cy="274320"/>
          </a:xfrm>
          <a:prstGeom prst="ellipse">
            <a:avLst/>
          </a:prstGeom>
          <a:solidFill>
            <a:srgbClr val="8892A6"/>
          </a:solidFill>
          <a:ln w="12700">
            <a:solidFill>
              <a:srgbClr val="8892A6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1371600" y="1874520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F2F5F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Cobertura de pruebas</a:t>
            </a:r>
            <a:endParaRPr lang="en-US" sz="1350" dirty="0"/>
          </a:p>
        </p:txBody>
      </p:sp>
      <p:sp>
        <p:nvSpPr>
          <p:cNvPr id="10" name="Text 8"/>
          <p:cNvSpPr txBox="1"/>
          <p:nvPr/>
        </p:nvSpPr>
        <p:spPr>
          <a:xfrm>
            <a:off x="1371600" y="2194560"/>
            <a:ext cx="9875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9AA6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proyecto exige Python ≥3.11; el entorno solo tenía 3.10 y no podía descargar otro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640080" y="2770632"/>
            <a:ext cx="10899648" cy="896112"/>
          </a:xfrm>
          <a:prstGeom prst="roundRect">
            <a:avLst>
              <a:gd name="adj" fmla="val 8163"/>
            </a:avLst>
          </a:prstGeom>
          <a:solidFill>
            <a:srgbClr val="2E3744"/>
          </a:solidFill>
          <a:ln w="12700">
            <a:solidFill>
              <a:srgbClr val="2E3744"/>
            </a:solidFill>
            <a:prstDash val="solid"/>
          </a:ln>
          <a:effectLst>
            <a:outerShdw sx="100000" sy="100000" kx="0" ky="0" algn="bl" rotWithShape="0" blurRad="76200" dist="12700" dir="5400000">
              <a:srgbClr val="9AA6B5">
                <a:alpha val="22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914400" y="3090672"/>
            <a:ext cx="274320" cy="274320"/>
          </a:xfrm>
          <a:prstGeom prst="ellipse">
            <a:avLst/>
          </a:prstGeom>
          <a:solidFill>
            <a:srgbClr val="8892A6"/>
          </a:solidFill>
          <a:ln w="12700">
            <a:solidFill>
              <a:srgbClr val="8892A6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1371600" y="2907792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F2F5F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Gitleaks · Trivy · Semgrep</a:t>
            </a:r>
            <a:endParaRPr lang="en-US" sz="1350" dirty="0"/>
          </a:p>
        </p:txBody>
      </p:sp>
      <p:sp>
        <p:nvSpPr>
          <p:cNvPr id="14" name="Text 12"/>
          <p:cNvSpPr txBox="1"/>
          <p:nvPr/>
        </p:nvSpPr>
        <p:spPr>
          <a:xfrm>
            <a:off x="1371600" y="3227832"/>
            <a:ext cx="9875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9AA6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Binarios y rulesets desde dominios bloqueados. Sustituidos donde fue posible</a:t>
            </a:r>
            <a:endParaRPr lang="en-US" sz="1150" dirty="0"/>
          </a:p>
        </p:txBody>
      </p:sp>
      <p:sp>
        <p:nvSpPr>
          <p:cNvPr id="15" name="Shape 13"/>
          <p:cNvSpPr/>
          <p:nvPr/>
        </p:nvSpPr>
        <p:spPr>
          <a:xfrm>
            <a:off x="640080" y="3803904"/>
            <a:ext cx="10899648" cy="896112"/>
          </a:xfrm>
          <a:prstGeom prst="roundRect">
            <a:avLst>
              <a:gd name="adj" fmla="val 8163"/>
            </a:avLst>
          </a:prstGeom>
          <a:solidFill>
            <a:srgbClr val="2E3744"/>
          </a:solidFill>
          <a:ln w="12700">
            <a:solidFill>
              <a:srgbClr val="2E3744"/>
            </a:solidFill>
            <a:prstDash val="solid"/>
          </a:ln>
          <a:effectLst>
            <a:outerShdw sx="100000" sy="100000" kx="0" ky="0" algn="bl" rotWithShape="0" blurRad="76200" dist="12700" dir="5400000">
              <a:srgbClr val="9AA6B5">
                <a:alpha val="22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914400" y="4123944"/>
            <a:ext cx="274320" cy="274320"/>
          </a:xfrm>
          <a:prstGeom prst="ellipse">
            <a:avLst/>
          </a:prstGeom>
          <a:solidFill>
            <a:srgbClr val="8892A6"/>
          </a:solidFill>
          <a:ln w="12700">
            <a:solidFill>
              <a:srgbClr val="8892A6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1371600" y="3941064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F2F5F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Base de datos OSV</a:t>
            </a:r>
            <a:endParaRPr lang="en-US" sz="1350" dirty="0"/>
          </a:p>
        </p:txBody>
      </p:sp>
      <p:sp>
        <p:nvSpPr>
          <p:cNvPr id="18" name="Text 16"/>
          <p:cNvSpPr txBox="1"/>
          <p:nvPr/>
        </p:nvSpPr>
        <p:spPr>
          <a:xfrm>
            <a:off x="1371600" y="4261104"/>
            <a:ext cx="9875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9AA6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api.osv.dev devuelve 403. Se usó la base de PyPI, equivalente para paquetes PyPI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640080" y="4837176"/>
            <a:ext cx="10899648" cy="896112"/>
          </a:xfrm>
          <a:prstGeom prst="roundRect">
            <a:avLst>
              <a:gd name="adj" fmla="val 8163"/>
            </a:avLst>
          </a:prstGeom>
          <a:solidFill>
            <a:srgbClr val="2E3744"/>
          </a:solidFill>
          <a:ln w="12700">
            <a:solidFill>
              <a:srgbClr val="2E3744"/>
            </a:solidFill>
            <a:prstDash val="solid"/>
          </a:ln>
          <a:effectLst>
            <a:outerShdw sx="100000" sy="100000" kx="0" ky="0" algn="bl" rotWithShape="0" blurRad="76200" dist="12700" dir="5400000">
              <a:srgbClr val="9AA6B5">
                <a:alpha val="22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914400" y="5157216"/>
            <a:ext cx="274320" cy="274320"/>
          </a:xfrm>
          <a:prstGeom prst="ellipse">
            <a:avLst/>
          </a:prstGeom>
          <a:solidFill>
            <a:srgbClr val="8892A6"/>
          </a:solidFill>
          <a:ln w="12700">
            <a:solidFill>
              <a:srgbClr val="8892A6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1371600" y="4974336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F2F5F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 paquetes de macOS y Windows</a:t>
            </a:r>
            <a:endParaRPr lang="en-US" sz="1350" dirty="0"/>
          </a:p>
        </p:txBody>
      </p:sp>
      <p:sp>
        <p:nvSpPr>
          <p:cNvPr id="22" name="Text 20"/>
          <p:cNvSpPr txBox="1"/>
          <p:nvPr/>
        </p:nvSpPr>
        <p:spPr>
          <a:xfrm>
            <a:off x="1371600" y="5294376"/>
            <a:ext cx="9875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9AA6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instalables en el entorno de análisis. El repo ya tiene runners para cerrarlo</a:t>
            </a:r>
            <a:endParaRPr lang="en-US" sz="1150" dirty="0"/>
          </a:p>
        </p:txBody>
      </p:sp>
      <p:sp>
        <p:nvSpPr>
          <p:cNvPr id="23" name="Text 21"/>
          <p:cNvSpPr txBox="1"/>
          <p:nvPr/>
        </p:nvSpPr>
        <p:spPr>
          <a:xfrm>
            <a:off x="640080" y="5943600"/>
            <a:ext cx="10881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00B4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Ninguna cifra fue estimada. Donde faltó herramienta, la dimensión quedó marcada "no evaluada".</a:t>
            </a:r>
            <a:endParaRPr lang="en-US" sz="135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EEF1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954512" y="5623560"/>
            <a:ext cx="2468880" cy="2468880"/>
          </a:xfrm>
          <a:prstGeom prst="ellipse">
            <a:avLst/>
          </a:prstGeom>
          <a:solidFill>
            <a:srgbClr val="00B4A6">
              <a:alpha val="22000"/>
            </a:srgbClr>
          </a:solidFill>
          <a:ln w="12700">
            <a:solidFill>
              <a:srgbClr val="00B4A6">
                <a:alpha val="52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0360152" y="5029200"/>
            <a:ext cx="3657600" cy="3657600"/>
          </a:xfrm>
          <a:prstGeom prst="ellipse">
            <a:avLst/>
          </a:prstGeom>
          <a:solidFill>
            <a:srgbClr val="00B4A6">
              <a:alpha val="14000"/>
            </a:srgbClr>
          </a:solidFill>
          <a:ln w="12700">
            <a:solidFill>
              <a:srgbClr val="00B4A6">
                <a:alpha val="44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9720072" y="4389120"/>
            <a:ext cx="4937760" cy="4937760"/>
          </a:xfrm>
          <a:prstGeom prst="ellipse">
            <a:avLst/>
          </a:prstGeom>
          <a:solidFill>
            <a:srgbClr val="00B4A6">
              <a:alpha val="8000"/>
            </a:srgbClr>
          </a:solidFill>
          <a:ln w="12700">
            <a:solidFill>
              <a:srgbClr val="00B4A6">
                <a:alpha val="38000"/>
              </a:srgbClr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40080" y="384048"/>
            <a:ext cx="10881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00B4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 CONSOLIDADO</a:t>
            </a:r>
            <a:endParaRPr lang="en-US" sz="1100" dirty="0"/>
          </a:p>
        </p:txBody>
      </p:sp>
      <p:sp>
        <p:nvSpPr>
          <p:cNvPr id="6" name="Text 4"/>
          <p:cNvSpPr txBox="1"/>
          <p:nvPr/>
        </p:nvSpPr>
        <p:spPr>
          <a:xfrm>
            <a:off x="640080" y="685800"/>
            <a:ext cx="108813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B202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Qué es bloqueante y qué va en paralelo</a:t>
            </a:r>
            <a:endParaRPr lang="en-US" sz="3200" dirty="0"/>
          </a:p>
        </p:txBody>
      </p:sp>
      <p:sp>
        <p:nvSpPr>
          <p:cNvPr id="7" name="Text 5"/>
          <p:cNvSpPr txBox="1"/>
          <p:nvPr/>
        </p:nvSpPr>
        <p:spPr>
          <a:xfrm>
            <a:off x="640080" y="1691640"/>
            <a:ext cx="10881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Cadena bloqueante — estrictamente secuencial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640080" y="2057400"/>
            <a:ext cx="2606040" cy="1234440"/>
          </a:xfrm>
          <a:prstGeom prst="roundRect">
            <a:avLst>
              <a:gd name="adj" fmla="val 5926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76200" dist="12700" dir="5400000">
              <a:srgbClr val="9AA6B5">
                <a:alpha val="22000"/>
              </a:srgbClr>
            </a:outerShdw>
          </a:effectLst>
        </p:spPr>
      </p:sp>
      <p:sp>
        <p:nvSpPr>
          <p:cNvPr id="9" name="Text 7"/>
          <p:cNvSpPr txBox="1"/>
          <p:nvPr/>
        </p:nvSpPr>
        <p:spPr>
          <a:xfrm>
            <a:off x="868680" y="2212848"/>
            <a:ext cx="9144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C039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M0</a:t>
            </a:r>
            <a:endParaRPr lang="en-US" sz="1700" dirty="0"/>
          </a:p>
        </p:txBody>
      </p:sp>
      <p:sp>
        <p:nvSpPr>
          <p:cNvPr id="10" name="Text 8"/>
          <p:cNvSpPr txBox="1"/>
          <p:nvPr/>
        </p:nvSpPr>
        <p:spPr>
          <a:xfrm>
            <a:off x="868680" y="2560320"/>
            <a:ext cx="2194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400"/>
              </a:lnSpc>
              <a:buNone/>
            </a:pPr>
            <a:r>
              <a:rPr lang="en-US" sz="1200" dirty="0">
                <a:solidFill>
                  <a:srgbClr val="1B20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Versionar uv.lock</a:t>
            </a:r>
            <a:endParaRPr lang="en-US" sz="1200" dirty="0"/>
          </a:p>
        </p:txBody>
      </p:sp>
      <p:sp>
        <p:nvSpPr>
          <p:cNvPr id="11" name="Text 9"/>
          <p:cNvSpPr txBox="1"/>
          <p:nvPr/>
        </p:nvSpPr>
        <p:spPr>
          <a:xfrm>
            <a:off x="868680" y="2971800"/>
            <a:ext cx="21945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5A64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 · nulo</a:t>
            </a:r>
            <a:endParaRPr lang="en-US" sz="1050" dirty="0"/>
          </a:p>
        </p:txBody>
      </p:sp>
      <p:sp>
        <p:nvSpPr>
          <p:cNvPr id="12" name="Text 10"/>
          <p:cNvSpPr txBox="1"/>
          <p:nvPr/>
        </p:nvSpPr>
        <p:spPr>
          <a:xfrm>
            <a:off x="3255264" y="2514600"/>
            <a:ext cx="228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5A64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3447288" y="2057400"/>
            <a:ext cx="2606040" cy="1234440"/>
          </a:xfrm>
          <a:prstGeom prst="roundRect">
            <a:avLst>
              <a:gd name="adj" fmla="val 5926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76200" dist="12700" dir="5400000">
              <a:srgbClr val="9AA6B5">
                <a:alpha val="22000"/>
              </a:srgbClr>
            </a:outerShdw>
          </a:effectLst>
        </p:spPr>
      </p:sp>
      <p:sp>
        <p:nvSpPr>
          <p:cNvPr id="14" name="Text 12"/>
          <p:cNvSpPr txBox="1"/>
          <p:nvPr/>
        </p:nvSpPr>
        <p:spPr>
          <a:xfrm>
            <a:off x="3675888" y="2212848"/>
            <a:ext cx="9144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C039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M1</a:t>
            </a:r>
            <a:endParaRPr lang="en-US" sz="1700" dirty="0"/>
          </a:p>
        </p:txBody>
      </p:sp>
      <p:sp>
        <p:nvSpPr>
          <p:cNvPr id="15" name="Text 13"/>
          <p:cNvSpPr txBox="1"/>
          <p:nvPr/>
        </p:nvSpPr>
        <p:spPr>
          <a:xfrm>
            <a:off x="3675888" y="2560320"/>
            <a:ext cx="2194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400"/>
              </a:lnSpc>
              <a:buNone/>
            </a:pPr>
            <a:r>
              <a:rPr lang="en-US" sz="1200" dirty="0">
                <a:solidFill>
                  <a:srgbClr val="1B20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Runtime 3.11 → 3.13</a:t>
            </a:r>
            <a:endParaRPr lang="en-US" sz="1200" dirty="0"/>
          </a:p>
        </p:txBody>
      </p:sp>
      <p:sp>
        <p:nvSpPr>
          <p:cNvPr id="16" name="Text 14"/>
          <p:cNvSpPr txBox="1"/>
          <p:nvPr/>
        </p:nvSpPr>
        <p:spPr>
          <a:xfrm>
            <a:off x="3675888" y="2971800"/>
            <a:ext cx="21945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5A64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 · medio</a:t>
            </a:r>
            <a:endParaRPr lang="en-US" sz="1050" dirty="0"/>
          </a:p>
        </p:txBody>
      </p:sp>
      <p:sp>
        <p:nvSpPr>
          <p:cNvPr id="17" name="Text 15"/>
          <p:cNvSpPr txBox="1"/>
          <p:nvPr/>
        </p:nvSpPr>
        <p:spPr>
          <a:xfrm>
            <a:off x="6062472" y="2514600"/>
            <a:ext cx="228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5A64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600" dirty="0"/>
          </a:p>
        </p:txBody>
      </p:sp>
      <p:sp>
        <p:nvSpPr>
          <p:cNvPr id="18" name="Shape 16"/>
          <p:cNvSpPr/>
          <p:nvPr/>
        </p:nvSpPr>
        <p:spPr>
          <a:xfrm>
            <a:off x="6254496" y="2057400"/>
            <a:ext cx="2606040" cy="1234440"/>
          </a:xfrm>
          <a:prstGeom prst="roundRect">
            <a:avLst>
              <a:gd name="adj" fmla="val 5926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76200" dist="12700" dir="5400000">
              <a:srgbClr val="9AA6B5">
                <a:alpha val="22000"/>
              </a:srgbClr>
            </a:outerShdw>
          </a:effectLst>
        </p:spPr>
      </p:sp>
      <p:sp>
        <p:nvSpPr>
          <p:cNvPr id="19" name="Text 17"/>
          <p:cNvSpPr txBox="1"/>
          <p:nvPr/>
        </p:nvSpPr>
        <p:spPr>
          <a:xfrm>
            <a:off x="6483096" y="2212848"/>
            <a:ext cx="9144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C039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M2</a:t>
            </a:r>
            <a:endParaRPr lang="en-US" sz="1700" dirty="0"/>
          </a:p>
        </p:txBody>
      </p:sp>
      <p:sp>
        <p:nvSpPr>
          <p:cNvPr id="20" name="Text 18"/>
          <p:cNvSpPr txBox="1"/>
          <p:nvPr/>
        </p:nvSpPr>
        <p:spPr>
          <a:xfrm>
            <a:off x="6483096" y="2560320"/>
            <a:ext cx="2194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400"/>
              </a:lnSpc>
              <a:buNone/>
            </a:pPr>
            <a:r>
              <a:rPr lang="en-US" sz="1200" dirty="0">
                <a:solidFill>
                  <a:srgbClr val="1B20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Pisos, techos y re-lock</a:t>
            </a:r>
            <a:endParaRPr lang="en-US" sz="1200" dirty="0"/>
          </a:p>
        </p:txBody>
      </p:sp>
      <p:sp>
        <p:nvSpPr>
          <p:cNvPr id="21" name="Text 19"/>
          <p:cNvSpPr txBox="1"/>
          <p:nvPr/>
        </p:nvSpPr>
        <p:spPr>
          <a:xfrm>
            <a:off x="6483096" y="2971800"/>
            <a:ext cx="21945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5A64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 · bajo</a:t>
            </a:r>
            <a:endParaRPr lang="en-US" sz="1050" dirty="0"/>
          </a:p>
        </p:txBody>
      </p:sp>
      <p:sp>
        <p:nvSpPr>
          <p:cNvPr id="22" name="Text 20"/>
          <p:cNvSpPr txBox="1"/>
          <p:nvPr/>
        </p:nvSpPr>
        <p:spPr>
          <a:xfrm>
            <a:off x="8869680" y="2514600"/>
            <a:ext cx="228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5A64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600" dirty="0"/>
          </a:p>
        </p:txBody>
      </p:sp>
      <p:sp>
        <p:nvSpPr>
          <p:cNvPr id="23" name="Shape 21"/>
          <p:cNvSpPr/>
          <p:nvPr/>
        </p:nvSpPr>
        <p:spPr>
          <a:xfrm>
            <a:off x="9061704" y="2057400"/>
            <a:ext cx="2606040" cy="1234440"/>
          </a:xfrm>
          <a:prstGeom prst="roundRect">
            <a:avLst>
              <a:gd name="adj" fmla="val 5926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76200" dist="12700" dir="5400000">
              <a:srgbClr val="9AA6B5">
                <a:alpha val="22000"/>
              </a:srgbClr>
            </a:outerShdw>
          </a:effectLst>
        </p:spPr>
      </p:sp>
      <p:sp>
        <p:nvSpPr>
          <p:cNvPr id="24" name="Text 22"/>
          <p:cNvSpPr txBox="1"/>
          <p:nvPr/>
        </p:nvSpPr>
        <p:spPr>
          <a:xfrm>
            <a:off x="9290304" y="2212848"/>
            <a:ext cx="9144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C039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M3</a:t>
            </a:r>
            <a:endParaRPr lang="en-US" sz="1700" dirty="0"/>
          </a:p>
        </p:txBody>
      </p:sp>
      <p:sp>
        <p:nvSpPr>
          <p:cNvPr id="25" name="Text 23"/>
          <p:cNvSpPr txBox="1"/>
          <p:nvPr/>
        </p:nvSpPr>
        <p:spPr>
          <a:xfrm>
            <a:off x="9290304" y="2560320"/>
            <a:ext cx="2194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400"/>
              </a:lnSpc>
              <a:buNone/>
            </a:pPr>
            <a:r>
              <a:rPr lang="en-US" sz="1200" dirty="0">
                <a:solidFill>
                  <a:srgbClr val="1B20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Gate de resolución mínima</a:t>
            </a:r>
            <a:endParaRPr lang="en-US" sz="1200" dirty="0"/>
          </a:p>
        </p:txBody>
      </p:sp>
      <p:sp>
        <p:nvSpPr>
          <p:cNvPr id="26" name="Text 24"/>
          <p:cNvSpPr txBox="1"/>
          <p:nvPr/>
        </p:nvSpPr>
        <p:spPr>
          <a:xfrm>
            <a:off x="9290304" y="2971800"/>
            <a:ext cx="21945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5A64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 · nulo</a:t>
            </a:r>
            <a:endParaRPr lang="en-US" sz="1050" dirty="0"/>
          </a:p>
        </p:txBody>
      </p:sp>
      <p:sp>
        <p:nvSpPr>
          <p:cNvPr id="27" name="Text 25"/>
          <p:cNvSpPr txBox="1"/>
          <p:nvPr/>
        </p:nvSpPr>
        <p:spPr>
          <a:xfrm>
            <a:off x="640080" y="3611880"/>
            <a:ext cx="10881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1F6F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 paralelo — desde el primer día</a:t>
            </a:r>
            <a:endParaRPr lang="en-US" sz="1300" dirty="0"/>
          </a:p>
        </p:txBody>
      </p:sp>
      <p:sp>
        <p:nvSpPr>
          <p:cNvPr id="28" name="Shape 26"/>
          <p:cNvSpPr/>
          <p:nvPr/>
        </p:nvSpPr>
        <p:spPr>
          <a:xfrm>
            <a:off x="640080" y="3977640"/>
            <a:ext cx="3429000" cy="1188720"/>
          </a:xfrm>
          <a:prstGeom prst="roundRect">
            <a:avLst>
              <a:gd name="adj" fmla="val 6154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76200" dist="12700" dir="5400000">
              <a:srgbClr val="9AA6B5">
                <a:alpha val="22000"/>
              </a:srgbClr>
            </a:outerShdw>
          </a:effectLst>
        </p:spPr>
      </p:sp>
      <p:sp>
        <p:nvSpPr>
          <p:cNvPr id="29" name="Text 27"/>
          <p:cNvSpPr txBox="1"/>
          <p:nvPr/>
        </p:nvSpPr>
        <p:spPr>
          <a:xfrm>
            <a:off x="868680" y="4133088"/>
            <a:ext cx="914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1F6F6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M4</a:t>
            </a:r>
            <a:endParaRPr lang="en-US" sz="1600" dirty="0"/>
          </a:p>
        </p:txBody>
      </p:sp>
      <p:sp>
        <p:nvSpPr>
          <p:cNvPr id="30" name="Text 28"/>
          <p:cNvSpPr txBox="1"/>
          <p:nvPr/>
        </p:nvSpPr>
        <p:spPr>
          <a:xfrm>
            <a:off x="868680" y="4462272"/>
            <a:ext cx="3017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B20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Linux en contenedor fijado</a:t>
            </a:r>
            <a:endParaRPr lang="en-US" sz="1200" dirty="0"/>
          </a:p>
        </p:txBody>
      </p:sp>
      <p:sp>
        <p:nvSpPr>
          <p:cNvPr id="31" name="Text 29"/>
          <p:cNvSpPr txBox="1"/>
          <p:nvPr/>
        </p:nvSpPr>
        <p:spPr>
          <a:xfrm>
            <a:off x="868680" y="4846320"/>
            <a:ext cx="3017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5A64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 · medio</a:t>
            </a:r>
            <a:endParaRPr lang="en-US" sz="1050" dirty="0"/>
          </a:p>
        </p:txBody>
      </p:sp>
      <p:sp>
        <p:nvSpPr>
          <p:cNvPr id="32" name="Shape 30"/>
          <p:cNvSpPr/>
          <p:nvPr/>
        </p:nvSpPr>
        <p:spPr>
          <a:xfrm>
            <a:off x="4361688" y="3977640"/>
            <a:ext cx="3429000" cy="1188720"/>
          </a:xfrm>
          <a:prstGeom prst="roundRect">
            <a:avLst>
              <a:gd name="adj" fmla="val 6154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76200" dist="12700" dir="5400000">
              <a:srgbClr val="9AA6B5">
                <a:alpha val="22000"/>
              </a:srgbClr>
            </a:outerShdw>
          </a:effectLst>
        </p:spPr>
      </p:sp>
      <p:sp>
        <p:nvSpPr>
          <p:cNvPr id="33" name="Text 31"/>
          <p:cNvSpPr txBox="1"/>
          <p:nvPr/>
        </p:nvSpPr>
        <p:spPr>
          <a:xfrm>
            <a:off x="4590288" y="4133088"/>
            <a:ext cx="914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1F6F6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M5</a:t>
            </a:r>
            <a:endParaRPr lang="en-US" sz="1600" dirty="0"/>
          </a:p>
        </p:txBody>
      </p:sp>
      <p:sp>
        <p:nvSpPr>
          <p:cNvPr id="34" name="Text 32"/>
          <p:cNvSpPr txBox="1"/>
          <p:nvPr/>
        </p:nvSpPr>
        <p:spPr>
          <a:xfrm>
            <a:off x="4590288" y="4462272"/>
            <a:ext cx="3017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B20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Auditar deps de macOS y Windows</a:t>
            </a:r>
            <a:endParaRPr lang="en-US" sz="1200" dirty="0"/>
          </a:p>
        </p:txBody>
      </p:sp>
      <p:sp>
        <p:nvSpPr>
          <p:cNvPr id="35" name="Text 33"/>
          <p:cNvSpPr txBox="1"/>
          <p:nvPr/>
        </p:nvSpPr>
        <p:spPr>
          <a:xfrm>
            <a:off x="4590288" y="4846320"/>
            <a:ext cx="3017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5A64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 · nulo</a:t>
            </a:r>
            <a:endParaRPr lang="en-US" sz="1050" dirty="0"/>
          </a:p>
        </p:txBody>
      </p:sp>
      <p:sp>
        <p:nvSpPr>
          <p:cNvPr id="36" name="Shape 34"/>
          <p:cNvSpPr/>
          <p:nvPr/>
        </p:nvSpPr>
        <p:spPr>
          <a:xfrm>
            <a:off x="8083296" y="3977640"/>
            <a:ext cx="3429000" cy="1188720"/>
          </a:xfrm>
          <a:prstGeom prst="roundRect">
            <a:avLst>
              <a:gd name="adj" fmla="val 6154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76200" dist="12700" dir="5400000">
              <a:srgbClr val="9AA6B5">
                <a:alpha val="22000"/>
              </a:srgbClr>
            </a:outerShdw>
          </a:effectLst>
        </p:spPr>
      </p:sp>
      <p:sp>
        <p:nvSpPr>
          <p:cNvPr id="37" name="Text 35"/>
          <p:cNvSpPr txBox="1"/>
          <p:nvPr/>
        </p:nvSpPr>
        <p:spPr>
          <a:xfrm>
            <a:off x="8311896" y="4133088"/>
            <a:ext cx="914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1F6F6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M6</a:t>
            </a:r>
            <a:endParaRPr lang="en-US" sz="1600" dirty="0"/>
          </a:p>
        </p:txBody>
      </p:sp>
      <p:sp>
        <p:nvSpPr>
          <p:cNvPr id="38" name="Text 36"/>
          <p:cNvSpPr txBox="1"/>
          <p:nvPr/>
        </p:nvSpPr>
        <p:spPr>
          <a:xfrm>
            <a:off x="8311896" y="4462272"/>
            <a:ext cx="3017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B20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Decidir la política sobre pystray</a:t>
            </a:r>
            <a:endParaRPr lang="en-US" sz="1200" dirty="0"/>
          </a:p>
        </p:txBody>
      </p:sp>
      <p:sp>
        <p:nvSpPr>
          <p:cNvPr id="39" name="Text 37"/>
          <p:cNvSpPr txBox="1"/>
          <p:nvPr/>
        </p:nvSpPr>
        <p:spPr>
          <a:xfrm>
            <a:off x="8311896" y="4846320"/>
            <a:ext cx="3017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5A64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decisión</a:t>
            </a:r>
            <a:endParaRPr lang="en-US" sz="1050" dirty="0"/>
          </a:p>
        </p:txBody>
      </p:sp>
      <p:sp>
        <p:nvSpPr>
          <p:cNvPr id="40" name="Text 38"/>
          <p:cNvSpPr txBox="1"/>
          <p:nvPr/>
        </p:nvSpPr>
        <p:spPr>
          <a:xfrm>
            <a:off x="640080" y="5440680"/>
            <a:ext cx="10881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i="1" dirty="0">
                <a:solidFill>
                  <a:srgbClr val="5A64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orden importa: requires-python determina qué versiones son resolubles, así que subir el runtime antes de fijar techos evita rehacerlos.</a:t>
            </a:r>
            <a:endParaRPr lang="en-US" sz="125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1B20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954512" y="5623560"/>
            <a:ext cx="2468880" cy="2468880"/>
          </a:xfrm>
          <a:prstGeom prst="ellipse">
            <a:avLst/>
          </a:prstGeom>
          <a:solidFill>
            <a:srgbClr val="00B4A6">
              <a:alpha val="22000"/>
            </a:srgbClr>
          </a:solidFill>
          <a:ln w="12700">
            <a:solidFill>
              <a:srgbClr val="00B4A6">
                <a:alpha val="52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0360152" y="5029200"/>
            <a:ext cx="3657600" cy="3657600"/>
          </a:xfrm>
          <a:prstGeom prst="ellipse">
            <a:avLst/>
          </a:prstGeom>
          <a:solidFill>
            <a:srgbClr val="00B4A6">
              <a:alpha val="14000"/>
            </a:srgbClr>
          </a:solidFill>
          <a:ln w="12700">
            <a:solidFill>
              <a:srgbClr val="00B4A6">
                <a:alpha val="44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9720072" y="4389120"/>
            <a:ext cx="4937760" cy="4937760"/>
          </a:xfrm>
          <a:prstGeom prst="ellipse">
            <a:avLst/>
          </a:prstGeom>
          <a:solidFill>
            <a:srgbClr val="00B4A6">
              <a:alpha val="8000"/>
            </a:srgbClr>
          </a:solidFill>
          <a:ln w="12700">
            <a:solidFill>
              <a:srgbClr val="00B4A6">
                <a:alpha val="38000"/>
              </a:srgbClr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40080" y="384048"/>
            <a:ext cx="10881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00B4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NECESITAN UNA DECISIÓN TUYA</a:t>
            </a:r>
            <a:endParaRPr lang="en-US" sz="1100" dirty="0"/>
          </a:p>
        </p:txBody>
      </p:sp>
      <p:sp>
        <p:nvSpPr>
          <p:cNvPr id="6" name="Text 4"/>
          <p:cNvSpPr txBox="1"/>
          <p:nvPr/>
        </p:nvSpPr>
        <p:spPr>
          <a:xfrm>
            <a:off x="640080" y="685800"/>
            <a:ext cx="108813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2F5F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Tres cosas que no puedo decidir por defecto</a:t>
            </a:r>
            <a:endParaRPr lang="en-US" sz="3200" dirty="0"/>
          </a:p>
        </p:txBody>
      </p:sp>
      <p:sp>
        <p:nvSpPr>
          <p:cNvPr id="7" name="Shape 5"/>
          <p:cNvSpPr/>
          <p:nvPr/>
        </p:nvSpPr>
        <p:spPr>
          <a:xfrm>
            <a:off x="640080" y="1737360"/>
            <a:ext cx="10899648" cy="1207008"/>
          </a:xfrm>
          <a:prstGeom prst="roundRect">
            <a:avLst>
              <a:gd name="adj" fmla="val 6061"/>
            </a:avLst>
          </a:prstGeom>
          <a:solidFill>
            <a:srgbClr val="2E3744"/>
          </a:solidFill>
          <a:ln w="12700">
            <a:solidFill>
              <a:srgbClr val="2E3744"/>
            </a:solidFill>
            <a:prstDash val="solid"/>
          </a:ln>
          <a:effectLst>
            <a:outerShdw sx="100000" sy="100000" kx="0" ky="0" algn="bl" rotWithShape="0" blurRad="76200" dist="12700" dir="5400000">
              <a:srgbClr val="9AA6B5">
                <a:alpha val="22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914400" y="2139696"/>
            <a:ext cx="402336" cy="402336"/>
          </a:xfrm>
          <a:prstGeom prst="ellipse">
            <a:avLst/>
          </a:prstGeom>
          <a:solidFill>
            <a:srgbClr val="00B4A6"/>
          </a:solidFill>
          <a:ln w="12700">
            <a:solidFill>
              <a:srgbClr val="00B4A6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914400" y="2221992"/>
            <a:ext cx="40233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400" dirty="0"/>
          </a:p>
        </p:txBody>
      </p:sp>
      <p:sp>
        <p:nvSpPr>
          <p:cNvPr id="10" name="Text 8"/>
          <p:cNvSpPr txBox="1"/>
          <p:nvPr/>
        </p:nvSpPr>
        <p:spPr>
          <a:xfrm>
            <a:off x="1508760" y="1920240"/>
            <a:ext cx="9692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50" b="1" dirty="0">
                <a:solidFill>
                  <a:srgbClr val="F2F5F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¿La alerta bajo Wayland bloquea el release?</a:t>
            </a:r>
            <a:endParaRPr lang="en-US" sz="1550" dirty="0"/>
          </a:p>
        </p:txBody>
      </p:sp>
      <p:sp>
        <p:nvSpPr>
          <p:cNvPr id="11" name="Text 9"/>
          <p:cNvSpPr txBox="1"/>
          <p:nvPr/>
        </p:nvSpPr>
        <p:spPr>
          <a:xfrm>
            <a:off x="1508760" y="2304288"/>
            <a:ext cx="9692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00"/>
              </a:lnSpc>
              <a:buNone/>
            </a:pPr>
            <a:r>
              <a:rPr lang="en-US" sz="1200" dirty="0">
                <a:solidFill>
                  <a:srgbClr val="9AA6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Hoy la garantía central del producto no se cumple en el escritorio Linux más común. El diseño existe (ADR-010) y nunca se implementó.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640080" y="3108960"/>
            <a:ext cx="10899648" cy="1207008"/>
          </a:xfrm>
          <a:prstGeom prst="roundRect">
            <a:avLst>
              <a:gd name="adj" fmla="val 6061"/>
            </a:avLst>
          </a:prstGeom>
          <a:solidFill>
            <a:srgbClr val="2E3744"/>
          </a:solidFill>
          <a:ln w="12700">
            <a:solidFill>
              <a:srgbClr val="2E3744"/>
            </a:solidFill>
            <a:prstDash val="solid"/>
          </a:ln>
          <a:effectLst>
            <a:outerShdw sx="100000" sy="100000" kx="0" ky="0" algn="bl" rotWithShape="0" blurRad="76200" dist="12700" dir="5400000">
              <a:srgbClr val="9AA6B5">
                <a:alpha val="22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914400" y="3511296"/>
            <a:ext cx="402336" cy="402336"/>
          </a:xfrm>
          <a:prstGeom prst="ellipse">
            <a:avLst/>
          </a:prstGeom>
          <a:solidFill>
            <a:srgbClr val="00B4A6"/>
          </a:solidFill>
          <a:ln w="12700">
            <a:solidFill>
              <a:srgbClr val="00B4A6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914400" y="3593592"/>
            <a:ext cx="40233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400" dirty="0"/>
          </a:p>
        </p:txBody>
      </p:sp>
      <p:sp>
        <p:nvSpPr>
          <p:cNvPr id="15" name="Text 13"/>
          <p:cNvSpPr txBox="1"/>
          <p:nvPr/>
        </p:nvSpPr>
        <p:spPr>
          <a:xfrm>
            <a:off x="1508760" y="3291840"/>
            <a:ext cx="9692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50" b="1" dirty="0">
                <a:solidFill>
                  <a:srgbClr val="F2F5F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¿Qué se hace con pystray?</a:t>
            </a:r>
            <a:endParaRPr lang="en-US" sz="1550" dirty="0"/>
          </a:p>
        </p:txBody>
      </p:sp>
      <p:sp>
        <p:nvSpPr>
          <p:cNvPr id="16" name="Text 14"/>
          <p:cNvSpPr txBox="1"/>
          <p:nvPr/>
        </p:nvSpPr>
        <p:spPr>
          <a:xfrm>
            <a:off x="1508760" y="3675888"/>
            <a:ext cx="9692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00"/>
              </a:lnSpc>
              <a:buNone/>
            </a:pPr>
            <a:r>
              <a:rPr lang="en-US" sz="1200" dirty="0">
                <a:solidFill>
                  <a:srgbClr val="9AA6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1.085 días sin publicar, y es quien arrastra Pillow al árbol. Mantener con riesgo aceptado, migrar, o retirar la bandeja donde no funciona.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640080" y="4480560"/>
            <a:ext cx="10899648" cy="1207008"/>
          </a:xfrm>
          <a:prstGeom prst="roundRect">
            <a:avLst>
              <a:gd name="adj" fmla="val 6061"/>
            </a:avLst>
          </a:prstGeom>
          <a:solidFill>
            <a:srgbClr val="2E3744"/>
          </a:solidFill>
          <a:ln w="12700">
            <a:solidFill>
              <a:srgbClr val="2E3744"/>
            </a:solidFill>
            <a:prstDash val="solid"/>
          </a:ln>
          <a:effectLst>
            <a:outerShdw sx="100000" sy="100000" kx="0" ky="0" algn="bl" rotWithShape="0" blurRad="76200" dist="12700" dir="5400000">
              <a:srgbClr val="9AA6B5">
                <a:alpha val="22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914400" y="4882896"/>
            <a:ext cx="402336" cy="402336"/>
          </a:xfrm>
          <a:prstGeom prst="ellipse">
            <a:avLst/>
          </a:prstGeom>
          <a:solidFill>
            <a:srgbClr val="00B4A6"/>
          </a:solidFill>
          <a:ln w="12700">
            <a:solidFill>
              <a:srgbClr val="00B4A6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914400" y="4965192"/>
            <a:ext cx="40233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400" dirty="0"/>
          </a:p>
        </p:txBody>
      </p:sp>
      <p:sp>
        <p:nvSpPr>
          <p:cNvPr id="20" name="Text 18"/>
          <p:cNvSpPr txBox="1"/>
          <p:nvPr/>
        </p:nvSpPr>
        <p:spPr>
          <a:xfrm>
            <a:off x="1508760" y="4663440"/>
            <a:ext cx="9692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50" b="1" dirty="0">
                <a:solidFill>
                  <a:srgbClr val="F2F5F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¿Se enmienda la constitución a Python 3.13?</a:t>
            </a:r>
            <a:endParaRPr lang="en-US" sz="1550" dirty="0"/>
          </a:p>
        </p:txBody>
      </p:sp>
      <p:sp>
        <p:nvSpPr>
          <p:cNvPr id="21" name="Text 19"/>
          <p:cNvSpPr txBox="1"/>
          <p:nvPr/>
        </p:nvSpPr>
        <p:spPr>
          <a:xfrm>
            <a:off x="1508760" y="5047488"/>
            <a:ext cx="9692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00"/>
              </a:lnSpc>
              <a:buNone/>
            </a:pPr>
            <a:r>
              <a:rPr lang="en-US" sz="1200" dirty="0">
                <a:solidFill>
                  <a:srgbClr val="9AA6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Cambiar una restricción de stack exige enmienda con changelog. Por eso se anotó en vez de editarla.</a:t>
            </a:r>
            <a:endParaRPr lang="en-US" sz="12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1B20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954512" y="5623560"/>
            <a:ext cx="2468880" cy="2468880"/>
          </a:xfrm>
          <a:prstGeom prst="ellipse">
            <a:avLst/>
          </a:prstGeom>
          <a:solidFill>
            <a:srgbClr val="00B4A6">
              <a:alpha val="22000"/>
            </a:srgbClr>
          </a:solidFill>
          <a:ln w="12700">
            <a:solidFill>
              <a:srgbClr val="00B4A6">
                <a:alpha val="52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0360152" y="5029200"/>
            <a:ext cx="3657600" cy="3657600"/>
          </a:xfrm>
          <a:prstGeom prst="ellipse">
            <a:avLst/>
          </a:prstGeom>
          <a:solidFill>
            <a:srgbClr val="00B4A6">
              <a:alpha val="14000"/>
            </a:srgbClr>
          </a:solidFill>
          <a:ln w="12700">
            <a:solidFill>
              <a:srgbClr val="00B4A6">
                <a:alpha val="44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9720072" y="4389120"/>
            <a:ext cx="4937760" cy="4937760"/>
          </a:xfrm>
          <a:prstGeom prst="ellipse">
            <a:avLst/>
          </a:prstGeom>
          <a:solidFill>
            <a:srgbClr val="00B4A6">
              <a:alpha val="8000"/>
            </a:srgbClr>
          </a:solidFill>
          <a:ln w="12700">
            <a:solidFill>
              <a:srgbClr val="00B4A6">
                <a:alpha val="38000"/>
              </a:srgbClr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40080" y="1965960"/>
            <a:ext cx="87782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F2F5F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El código está sano.</a:t>
            </a:r>
            <a:endParaRPr lang="en-US" sz="4400" dirty="0"/>
          </a:p>
          <a:p>
            <a:pPr indent="0" marL="0">
              <a:buNone/>
            </a:pPr>
            <a:r>
              <a:rPr lang="en-US" sz="4400" b="1" dirty="0">
                <a:solidFill>
                  <a:srgbClr val="F2F5F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El proceso tiene huecos.</a:t>
            </a:r>
            <a:endParaRPr lang="en-US" sz="4400" dirty="0"/>
          </a:p>
        </p:txBody>
      </p:sp>
      <p:sp>
        <p:nvSpPr>
          <p:cNvPr id="6" name="Text 4"/>
          <p:cNvSpPr txBox="1"/>
          <p:nvPr/>
        </p:nvSpPr>
        <p:spPr>
          <a:xfrm>
            <a:off x="640080" y="3429000"/>
            <a:ext cx="87782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9AA6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Cero P1 de seguridad. Cero secretos. Cero ciclos. Tipado estricto limpio.</a:t>
            </a:r>
            <a:endParaRPr lang="en-US" sz="1600" dirty="0"/>
          </a:p>
        </p:txBody>
      </p:sp>
      <p:sp>
        <p:nvSpPr>
          <p:cNvPr id="7" name="Text 5"/>
          <p:cNvSpPr txBox="1"/>
          <p:nvPr/>
        </p:nvSpPr>
        <p:spPr>
          <a:xfrm>
            <a:off x="640080" y="4480560"/>
            <a:ext cx="78638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000"/>
              </a:lnSpc>
              <a:buNone/>
            </a:pPr>
            <a:r>
              <a:rPr lang="en-US" sz="1400" dirty="0">
                <a:solidFill>
                  <a:srgbClr val="9AA6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 que falta no es arreglar código: es hacer que el gate mida lo que ya se sabe medir, y declarar por escrito lo que hoy se promete sin acotar.</a:t>
            </a:r>
            <a:endParaRPr lang="en-US" sz="1400" dirty="0"/>
          </a:p>
        </p:txBody>
      </p:sp>
      <p:sp>
        <p:nvSpPr>
          <p:cNvPr id="8" name="Text 6"/>
          <p:cNvSpPr txBox="1"/>
          <p:nvPr/>
        </p:nvSpPr>
        <p:spPr>
          <a:xfrm>
            <a:off x="640080" y="5486400"/>
            <a:ext cx="8778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00B4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Siguiente paso:  M0 — versionar uv.lock.  Menos de una hora, riesgo nulo, desbloquea todo lo demás.</a:t>
            </a:r>
            <a:endParaRPr lang="en-US" sz="13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17</Slides>
  <Notes>17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2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Vigía-eew · Evaluación de código, seguridad y contenedores</dc:title>
  <dc:subject>PptxGenJS Presentation</dc:subject>
  <dc:creator>Auditoría vigia-eew</dc:creator>
  <cp:lastModifiedBy>Auditoría vigia-eew</cp:lastModifiedBy>
  <cp:revision>1</cp:revision>
  <dcterms:created xsi:type="dcterms:W3CDTF">2026-09-07T01:20:14Z</dcterms:created>
  <dcterms:modified xsi:type="dcterms:W3CDTF">2026-09-07T01:20:14Z</dcterms:modified>
</cp:coreProperties>
</file>